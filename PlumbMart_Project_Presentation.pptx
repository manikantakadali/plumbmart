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comprehensive presentation on PlumbMart. PlumbMart was engineered as an enterprise-grade solution addressing the real-world operational challenges of the plumbing supply and service industry. It features full role separation between retail customers, wholesale dealers, field service plumbers, and back-office admins, backed by live synchronization with Zoho Inventory and Books.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PlumbMart was engineered not just as an e-commerce website, but as an omnichannel operations engine. Notice the dual-tier architecture: it integrates tightly with enterprise backends like Zoho while maintaining high responsiveness and reliability through intelligent fallback caching.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matrix highlights why PlumbMart is uniquely suited for the plumbing industry. Notice how each operational bottleneck in the field—like channel conflict, fraudulent credit claims, or installation failures—is answered with an architectural feature enforced directly at the API and database levels.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engineered for enterprise reliability. Even if the external Supabase pooler encounters intermittent latency, the dual-tier database fallback keeps local development, testing, and operations running seamlessly. The modular service design keeps Zoho logic, email pipelines, and authentication cleanly isolated.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Rahul Sharma's account (9876543210). Show how the retail UI hides stock quantities while allowing customers to book installation services directly alongside their materials order.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credit governance architecture. In B2B wholesale, cash flow is critical. PlumbMart ensures that only trusted distributors with verified Zoho track records receive 90-day extended credit.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Ramesh Babu's account (9111122222). Show how the field technician experiences a clean, distraction-free mobile interface focused on job execution, schematics, and reward point accumulation.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Admin Dashboard gives executives complete control over the entire supply chain. In the demo, show how an admin can flip Coastal Builders Mart from Unverified to Verified, immediately unlocking their login access.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Zoho integration in detail. In production environments, third-party ERP APIs can occasionally throttle or experience latency. PlumbMart's architecture isolates Zoho calls, caches catalog metadata, and refreshes tokens proactively.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Highlight the difference between Metro Pipe Syndicate (30-day only) and Sri Venkateswara Distributors (90-day approved). This directly answers the core interview task requirement for tiered credit checkout.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privacy is critical when serving both retail and wholesale customers on the same platform. Stock quantity hiding is enforced at the server controller level, not just hidden with CSS.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 diagram illustrates the holistic end-to-end integration of PlumbMart. The commerce engine and field service workflows are not isolated silos—they feed directly into one another.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test accounts are configured in backend/data/database.json and can be tested immediately using OTP '123456'. Point out the specific contrast between dealer 9000011111 (90 days unlocked) and 9000022222 (30 days only).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the presentation by summarizing the platform's robustness and how it cleanly satisfies every criteria of the interview task while laying the foundation for scalable commercial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1645920" cy="347472"/>
          </a:xfrm>
          <a:prstGeom prst="roundRect">
            <a:avLst/>
          </a:prstGeom>
          <a:solidFill>
            <a:srgbClr val="1E293B"/>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06B6D4"/>
                </a:solidFill>
                <a:latin typeface="Trebuchet MS"/>
              </a:defRPr>
            </a:pPr>
            <a:r>
              <a:t>ENTERPRISE B2B + B2C</a:t>
            </a:r>
          </a:p>
        </p:txBody>
      </p:sp>
      <p:sp>
        <p:nvSpPr>
          <p:cNvPr id="4" name="TextBox 3"/>
          <p:cNvSpPr txBox="1"/>
          <p:nvPr/>
        </p:nvSpPr>
        <p:spPr>
          <a:xfrm>
            <a:off x="731520" y="1234440"/>
            <a:ext cx="10698480" cy="1645920"/>
          </a:xfrm>
          <a:prstGeom prst="rect">
            <a:avLst/>
          </a:prstGeom>
          <a:noFill/>
        </p:spPr>
        <p:txBody>
          <a:bodyPr wrap="square">
            <a:spAutoFit/>
          </a:bodyPr>
          <a:lstStyle/>
          <a:p>
            <a:pPr>
              <a:defRPr sz="4800" b="1">
                <a:solidFill>
                  <a:srgbClr val="FFFFFF"/>
                </a:solidFill>
                <a:latin typeface="Trebuchet MS"/>
              </a:defRPr>
            </a:pPr>
            <a:r>
              <a:t>PlumbMart</a:t>
            </a:r>
          </a:p>
          <a:p>
            <a:pPr>
              <a:spcBef>
                <a:spcPts val="800"/>
              </a:spcBef>
              <a:defRPr sz="2200">
                <a:solidFill>
                  <a:srgbClr val="06B6D4"/>
                </a:solidFill>
                <a:latin typeface="Calibri"/>
              </a:defRPr>
            </a:pPr>
            <a:r>
              <a:t>Multi-Role Plumbing Commerce &amp; Zoho Synchronisation Platform</a:t>
            </a:r>
          </a:p>
        </p:txBody>
      </p:sp>
      <p:sp>
        <p:nvSpPr>
          <p:cNvPr id="5" name="TextBox 4"/>
          <p:cNvSpPr txBox="1"/>
          <p:nvPr/>
        </p:nvSpPr>
        <p:spPr>
          <a:xfrm>
            <a:off x="731520" y="2926080"/>
            <a:ext cx="10698480" cy="731520"/>
          </a:xfrm>
          <a:prstGeom prst="rect">
            <a:avLst/>
          </a:prstGeom>
          <a:noFill/>
        </p:spPr>
        <p:txBody>
          <a:bodyPr wrap="square">
            <a:spAutoFit/>
          </a:bodyPr>
          <a:lstStyle/>
          <a:p>
            <a:pPr>
              <a:defRPr sz="1400">
                <a:solidFill>
                  <a:srgbClr val="94A3B8"/>
                </a:solidFill>
                <a:latin typeface="Calibri"/>
              </a:defRPr>
            </a:pPr>
            <a:r>
              <a:t>A full-stack, enterprise-grade architecture engineered for Waytowebs Mobile App Development Task.</a:t>
            </a:r>
            <a:br/>
            <a:r>
              <a:t>Bridging retail consumers, verified wholesale dealers, field service plumbers, and enterprise Zoho ERP.</a:t>
            </a:r>
          </a:p>
        </p:txBody>
      </p:sp>
      <p:sp>
        <p:nvSpPr>
          <p:cNvPr id="6" name="Rounded Rectangle 5"/>
          <p:cNvSpPr/>
          <p:nvPr/>
        </p:nvSpPr>
        <p:spPr>
          <a:xfrm>
            <a:off x="731520" y="3977639"/>
            <a:ext cx="2514600" cy="2240280"/>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3977639"/>
            <a:ext cx="251460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142231"/>
            <a:ext cx="2240280" cy="1920240"/>
          </a:xfrm>
          <a:prstGeom prst="rect">
            <a:avLst/>
          </a:prstGeom>
          <a:noFill/>
        </p:spPr>
        <p:txBody>
          <a:bodyPr wrap="square">
            <a:spAutoFit/>
          </a:bodyPr>
          <a:lstStyle/>
          <a:p>
            <a:pPr>
              <a:defRPr sz="1400" b="1">
                <a:solidFill>
                  <a:srgbClr val="FFFFFF"/>
                </a:solidFill>
                <a:latin typeface="Trebuchet MS"/>
              </a:defRPr>
            </a:pPr>
            <a:r>
              <a:t>Customer Portal</a:t>
            </a:r>
          </a:p>
          <a:p>
            <a:pPr>
              <a:spcBef>
                <a:spcPts val="800"/>
              </a:spcBef>
              <a:defRPr sz="1100">
                <a:solidFill>
                  <a:srgbClr val="94A3B8"/>
                </a:solidFill>
                <a:latin typeface="Calibri"/>
              </a:defRPr>
            </a:pPr>
            <a:r>
              <a:t>Retail pricing, stock obfuscation, address book, instant payment &amp; live order tracking.</a:t>
            </a:r>
          </a:p>
        </p:txBody>
      </p:sp>
      <p:sp>
        <p:nvSpPr>
          <p:cNvPr id="9" name="Rounded Rectangle 8"/>
          <p:cNvSpPr/>
          <p:nvPr/>
        </p:nvSpPr>
        <p:spPr>
          <a:xfrm>
            <a:off x="3465576" y="3977639"/>
            <a:ext cx="2514600" cy="224028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65576" y="3977639"/>
            <a:ext cx="251460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02736" y="4142231"/>
            <a:ext cx="2240280" cy="1920240"/>
          </a:xfrm>
          <a:prstGeom prst="rect">
            <a:avLst/>
          </a:prstGeom>
          <a:noFill/>
        </p:spPr>
        <p:txBody>
          <a:bodyPr wrap="square">
            <a:spAutoFit/>
          </a:bodyPr>
          <a:lstStyle/>
          <a:p>
            <a:pPr>
              <a:defRPr sz="1400" b="1">
                <a:solidFill>
                  <a:srgbClr val="FFFFFF"/>
                </a:solidFill>
                <a:latin typeface="Trebuchet MS"/>
              </a:defRPr>
            </a:pPr>
            <a:r>
              <a:t>Wholesale Dealer</a:t>
            </a:r>
          </a:p>
          <a:p>
            <a:pPr>
              <a:spcBef>
                <a:spcPts val="800"/>
              </a:spcBef>
              <a:defRPr sz="1100">
                <a:solidFill>
                  <a:srgbClr val="94A3B8"/>
                </a:solidFill>
                <a:latin typeface="Calibri"/>
              </a:defRPr>
            </a:pPr>
            <a:r>
              <a:t>Zoho CRM verified, exact stock, MOQ, 30 &amp; 90-day post-dated credit checkout.</a:t>
            </a:r>
          </a:p>
        </p:txBody>
      </p:sp>
      <p:sp>
        <p:nvSpPr>
          <p:cNvPr id="12" name="Rounded Rectangle 11"/>
          <p:cNvSpPr/>
          <p:nvPr/>
        </p:nvSpPr>
        <p:spPr>
          <a:xfrm>
            <a:off x="6199632" y="3977639"/>
            <a:ext cx="2514600" cy="224028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3977639"/>
            <a:ext cx="25146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36792" y="4142231"/>
            <a:ext cx="2240280" cy="1920240"/>
          </a:xfrm>
          <a:prstGeom prst="rect">
            <a:avLst/>
          </a:prstGeom>
          <a:noFill/>
        </p:spPr>
        <p:txBody>
          <a:bodyPr wrap="square">
            <a:spAutoFit/>
          </a:bodyPr>
          <a:lstStyle/>
          <a:p>
            <a:pPr>
              <a:defRPr sz="1400" b="1">
                <a:solidFill>
                  <a:srgbClr val="FFFFFF"/>
                </a:solidFill>
                <a:latin typeface="Trebuchet MS"/>
              </a:defRPr>
            </a:pPr>
            <a:r>
              <a:t>Plumber App</a:t>
            </a:r>
          </a:p>
          <a:p>
            <a:pPr>
              <a:spcBef>
                <a:spcPts val="800"/>
              </a:spcBef>
              <a:defRPr sz="1100">
                <a:solidFill>
                  <a:srgbClr val="94A3B8"/>
                </a:solidFill>
                <a:latin typeface="Calibri"/>
              </a:defRPr>
            </a:pPr>
            <a:r>
              <a:t>KYC verified trade license, field job queue, technical schematics &amp; loyalty points.</a:t>
            </a:r>
          </a:p>
        </p:txBody>
      </p:sp>
      <p:sp>
        <p:nvSpPr>
          <p:cNvPr id="15" name="Rounded Rectangle 14"/>
          <p:cNvSpPr/>
          <p:nvPr/>
        </p:nvSpPr>
        <p:spPr>
          <a:xfrm>
            <a:off x="8933688" y="3977639"/>
            <a:ext cx="2514600" cy="2240280"/>
          </a:xfrm>
          <a:prstGeom prst="round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33688" y="3977639"/>
            <a:ext cx="2514600"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0848" y="4142231"/>
            <a:ext cx="2240280" cy="1920240"/>
          </a:xfrm>
          <a:prstGeom prst="rect">
            <a:avLst/>
          </a:prstGeom>
          <a:noFill/>
        </p:spPr>
        <p:txBody>
          <a:bodyPr wrap="square">
            <a:spAutoFit/>
          </a:bodyPr>
          <a:lstStyle/>
          <a:p>
            <a:pPr>
              <a:defRPr sz="1400" b="1">
                <a:solidFill>
                  <a:srgbClr val="FFFFFF"/>
                </a:solidFill>
                <a:latin typeface="Trebuchet MS"/>
              </a:defRPr>
            </a:pPr>
            <a:r>
              <a:t>Admin Control</a:t>
            </a:r>
          </a:p>
          <a:p>
            <a:pPr>
              <a:spcBef>
                <a:spcPts val="800"/>
              </a:spcBef>
              <a:defRPr sz="1100">
                <a:solidFill>
                  <a:srgbClr val="94A3B8"/>
                </a:solidFill>
                <a:latin typeface="Calibri"/>
              </a:defRPr>
            </a:pPr>
            <a:r>
              <a:t>Zoho OAuth sync cockpit, credit approval governance, plumber KYC &amp; audit logs.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9184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50" b="1">
                <a:solidFill>
                  <a:srgbClr val="0284C7"/>
                </a:solidFill>
                <a:latin typeface="Trebuchet MS"/>
              </a:defRPr>
            </a:pPr>
            <a:r>
              <a:t>STRATEGIC OVERVIEW</a:t>
            </a:r>
          </a:p>
        </p:txBody>
      </p:sp>
      <p:sp>
        <p:nvSpPr>
          <p:cNvPr id="4" name="TextBox 3"/>
          <p:cNvSpPr txBox="1"/>
          <p:nvPr/>
        </p:nvSpPr>
        <p:spPr>
          <a:xfrm>
            <a:off x="685800" y="749808"/>
            <a:ext cx="10789920" cy="640080"/>
          </a:xfrm>
          <a:prstGeom prst="rect">
            <a:avLst/>
          </a:prstGeom>
          <a:noFill/>
        </p:spPr>
        <p:txBody>
          <a:bodyPr wrap="square" tIns="0" bIns="0" lIns="0" rIns="0">
            <a:spAutoFit/>
          </a:bodyPr>
          <a:lstStyle/>
          <a:p>
            <a:pPr>
              <a:defRPr sz="2200" b="1">
                <a:solidFill>
                  <a:srgbClr val="0F172A"/>
                </a:solidFill>
                <a:latin typeface="Trebuchet MS"/>
              </a:defRPr>
            </a:pPr>
            <a:r>
              <a:t>Executive Summary &amp; Core Objectives</a:t>
            </a:r>
          </a:p>
        </p:txBody>
      </p:sp>
      <p:sp>
        <p:nvSpPr>
          <p:cNvPr id="5" name="Rectangle 4"/>
          <p:cNvSpPr/>
          <p:nvPr/>
        </p:nvSpPr>
        <p:spPr>
          <a:xfrm>
            <a:off x="731520" y="1444752"/>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212080" cy="4572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4663440" cy="4114800"/>
          </a:xfrm>
          <a:prstGeom prst="rect">
            <a:avLst/>
          </a:prstGeom>
          <a:noFill/>
        </p:spPr>
        <p:txBody>
          <a:bodyPr wrap="square">
            <a:spAutoFit/>
          </a:bodyPr>
          <a:lstStyle/>
          <a:p>
            <a:pPr>
              <a:defRPr sz="1600" b="1">
                <a:solidFill>
                  <a:srgbClr val="0284C7"/>
                </a:solidFill>
                <a:latin typeface="Trebuchet MS"/>
              </a:defRPr>
            </a:pPr>
            <a:r>
              <a:t>The Project Vision</a:t>
            </a:r>
          </a:p>
          <a:p>
            <a:pPr>
              <a:spcBef>
                <a:spcPts val="800"/>
              </a:spcBef>
              <a:defRPr sz="1200">
                <a:solidFill>
                  <a:srgbClr val="0F172A"/>
                </a:solidFill>
                <a:latin typeface="Calibri"/>
              </a:defRPr>
            </a:pPr>
            <a:r>
              <a:t>Plumbing supplies distribution is traditionally plagued by friction between wholesale networks and direct consumers. Manufacturers and distributors face pricing leakage, unverified credit risks, inventory desynchronization across sales channels, and a disjointed installation workforce.</a:t>
            </a:r>
          </a:p>
          <a:p>
            <a:pPr>
              <a:spcBef>
                <a:spcPts val="1200"/>
              </a:spcBef>
              <a:defRPr sz="1200" b="1">
                <a:solidFill>
                  <a:srgbClr val="0F172A"/>
                </a:solidFill>
                <a:latin typeface="Calibri"/>
              </a:defRPr>
            </a:pPr>
            <a:r>
              <a:t>PlumbMart bridges this gap through four key pillars:</a:t>
            </a:r>
          </a:p>
          <a:p>
            <a:pPr>
              <a:spcBef>
                <a:spcPts val="400"/>
              </a:spcBef>
              <a:defRPr sz="1100">
                <a:solidFill>
                  <a:srgbClr val="64748B"/>
                </a:solidFill>
                <a:latin typeface="Calibri"/>
              </a:defRPr>
            </a:pPr>
            <a:r>
              <a:t>1. Dynamic Information Asymmetry: Tailors prices and stock visibility to role privilege.</a:t>
            </a:r>
          </a:p>
          <a:p>
            <a:pPr>
              <a:spcBef>
                <a:spcPts val="400"/>
              </a:spcBef>
              <a:defRPr sz="1100">
                <a:solidFill>
                  <a:srgbClr val="64748B"/>
                </a:solidFill>
                <a:latin typeface="Calibri"/>
              </a:defRPr>
            </a:pPr>
            <a:r>
              <a:t>2. Strict Verification Gateways: Validates dealer accounts against Zoho CRM master records.</a:t>
            </a:r>
          </a:p>
          <a:p>
            <a:pPr>
              <a:spcBef>
                <a:spcPts val="400"/>
              </a:spcBef>
              <a:defRPr sz="1100">
                <a:solidFill>
                  <a:srgbClr val="64748B"/>
                </a:solidFill>
                <a:latin typeface="Calibri"/>
              </a:defRPr>
            </a:pPr>
            <a:r>
              <a:t>3. Automated Credit Governance: Post-dated 30/90-day credit lines with admin sign-off.</a:t>
            </a:r>
          </a:p>
          <a:p>
            <a:pPr>
              <a:spcBef>
                <a:spcPts val="400"/>
              </a:spcBef>
              <a:defRPr sz="1100">
                <a:solidFill>
                  <a:srgbClr val="64748B"/>
                </a:solidFill>
                <a:latin typeface="Calibri"/>
              </a:defRPr>
            </a:pPr>
            <a:r>
              <a:t>4. Connected Field Workforce: Dispatches jobs to verified plumbers with loyalty rewards.</a:t>
            </a:r>
          </a:p>
        </p:txBody>
      </p:sp>
      <p:sp>
        <p:nvSpPr>
          <p:cNvPr id="8" name="Rounded Rectangle 7"/>
          <p:cNvSpPr/>
          <p:nvPr/>
        </p:nvSpPr>
        <p:spPr>
          <a:xfrm>
            <a:off x="6217920" y="1645920"/>
            <a:ext cx="5212080" cy="141732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109728" cy="14173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83080"/>
            <a:ext cx="4754880" cy="1143000"/>
          </a:xfrm>
          <a:prstGeom prst="rect">
            <a:avLst/>
          </a:prstGeom>
          <a:noFill/>
        </p:spPr>
        <p:txBody>
          <a:bodyPr wrap="square">
            <a:spAutoFit/>
          </a:bodyPr>
          <a:lstStyle/>
          <a:p>
            <a:pPr>
              <a:defRPr sz="1300" b="1">
                <a:solidFill>
                  <a:srgbClr val="0284C7"/>
                </a:solidFill>
                <a:latin typeface="Trebuchet MS"/>
              </a:defRPr>
            </a:pPr>
            <a:r>
              <a:t>100% Real-time Zoho ERP Sync</a:t>
            </a:r>
          </a:p>
          <a:p>
            <a:pPr>
              <a:spcBef>
                <a:spcPts val="400"/>
              </a:spcBef>
              <a:defRPr sz="1100">
                <a:solidFill>
                  <a:srgbClr val="64748B"/>
                </a:solidFill>
                <a:latin typeface="Calibri"/>
              </a:defRPr>
            </a:pPr>
            <a:r>
              <a:t>Direct bi-directional synchronisation with Zoho Inventory items, quantities, and price books via secure OAuth 2.0.</a:t>
            </a:r>
          </a:p>
        </p:txBody>
      </p:sp>
      <p:sp>
        <p:nvSpPr>
          <p:cNvPr id="11" name="Rounded Rectangle 10"/>
          <p:cNvSpPr/>
          <p:nvPr/>
        </p:nvSpPr>
        <p:spPr>
          <a:xfrm>
            <a:off x="6217920" y="3218688"/>
            <a:ext cx="5212080" cy="1417320"/>
          </a:xfrm>
          <a:prstGeom prst="roundRect">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3218688"/>
            <a:ext cx="109728"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3355848"/>
            <a:ext cx="4754880" cy="1143000"/>
          </a:xfrm>
          <a:prstGeom prst="rect">
            <a:avLst/>
          </a:prstGeom>
          <a:noFill/>
        </p:spPr>
        <p:txBody>
          <a:bodyPr wrap="square">
            <a:spAutoFit/>
          </a:bodyPr>
          <a:lstStyle/>
          <a:p>
            <a:pPr>
              <a:defRPr sz="1300" b="1">
                <a:solidFill>
                  <a:srgbClr val="10B981"/>
                </a:solidFill>
                <a:latin typeface="Trebuchet MS"/>
              </a:defRPr>
            </a:pPr>
            <a:r>
              <a:t>Passwordless Multi-Channel Auth</a:t>
            </a:r>
          </a:p>
          <a:p>
            <a:pPr>
              <a:spcBef>
                <a:spcPts val="400"/>
              </a:spcBef>
              <a:defRPr sz="1100">
                <a:solidFill>
                  <a:srgbClr val="64748B"/>
                </a:solidFill>
                <a:latin typeface="Calibri"/>
              </a:defRPr>
            </a:pPr>
            <a:r>
              <a:t>Frictionless, secure mobile and email OTP authentication eliminating password management overhead.</a:t>
            </a:r>
          </a:p>
        </p:txBody>
      </p:sp>
      <p:sp>
        <p:nvSpPr>
          <p:cNvPr id="14" name="Rounded Rectangle 13"/>
          <p:cNvSpPr/>
          <p:nvPr/>
        </p:nvSpPr>
        <p:spPr>
          <a:xfrm>
            <a:off x="6217920" y="4791456"/>
            <a:ext cx="5212080" cy="1417320"/>
          </a:xfrm>
          <a:prstGeom prst="roundRect">
            <a:avLst/>
          </a:prstGeom>
          <a:solidFill>
            <a:srgbClr val="FFFFFF"/>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4791456"/>
            <a:ext cx="109728" cy="14173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4928616"/>
            <a:ext cx="4754880" cy="1143000"/>
          </a:xfrm>
          <a:prstGeom prst="rect">
            <a:avLst/>
          </a:prstGeom>
          <a:noFill/>
        </p:spPr>
        <p:txBody>
          <a:bodyPr wrap="square">
            <a:spAutoFit/>
          </a:bodyPr>
          <a:lstStyle/>
          <a:p>
            <a:pPr>
              <a:defRPr sz="1300" b="1">
                <a:solidFill>
                  <a:srgbClr val="6366F1"/>
                </a:solidFill>
                <a:latin typeface="Trebuchet MS"/>
              </a:defRPr>
            </a:pPr>
            <a:r>
              <a:t>Dual-Tier Resilient Database</a:t>
            </a:r>
          </a:p>
          <a:p>
            <a:pPr>
              <a:spcBef>
                <a:spcPts val="400"/>
              </a:spcBef>
              <a:defRPr sz="1100">
                <a:solidFill>
                  <a:srgbClr val="64748B"/>
                </a:solidFill>
                <a:latin typeface="Calibri"/>
              </a:defRPr>
            </a:pPr>
            <a:r>
              <a:t>Production Supabase PostgreSQL connection pooling with automated JSON local caching failover.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9184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50" b="1">
                <a:solidFill>
                  <a:srgbClr val="0284C7"/>
                </a:solidFill>
                <a:latin typeface="Trebuchet MS"/>
              </a:defRPr>
            </a:pPr>
            <a:r>
              <a:t>PROBLEM &amp; SOLUTION MATRIX</a:t>
            </a:r>
          </a:p>
        </p:txBody>
      </p:sp>
      <p:sp>
        <p:nvSpPr>
          <p:cNvPr id="4" name="TextBox 3"/>
          <p:cNvSpPr txBox="1"/>
          <p:nvPr/>
        </p:nvSpPr>
        <p:spPr>
          <a:xfrm>
            <a:off x="685800" y="749808"/>
            <a:ext cx="10789920" cy="640080"/>
          </a:xfrm>
          <a:prstGeom prst="rect">
            <a:avLst/>
          </a:prstGeom>
          <a:noFill/>
        </p:spPr>
        <p:txBody>
          <a:bodyPr wrap="square" tIns="0" bIns="0" lIns="0" rIns="0">
            <a:spAutoFit/>
          </a:bodyPr>
          <a:lstStyle/>
          <a:p>
            <a:pPr>
              <a:defRPr sz="2200" b="1">
                <a:solidFill>
                  <a:srgbClr val="0F172A"/>
                </a:solidFill>
                <a:latin typeface="Trebuchet MS"/>
              </a:defRPr>
            </a:pPr>
            <a:r>
              <a:t>Industry Pain Points vs. PlumbMart Engineering Solutions</a:t>
            </a:r>
          </a:p>
        </p:txBody>
      </p:sp>
      <p:sp>
        <p:nvSpPr>
          <p:cNvPr id="5" name="Rectangle 4"/>
          <p:cNvSpPr/>
          <p:nvPr/>
        </p:nvSpPr>
        <p:spPr>
          <a:xfrm>
            <a:off x="731520" y="1444752"/>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120640" cy="1051560"/>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73152" cy="10515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37360"/>
            <a:ext cx="4846320" cy="868680"/>
          </a:xfrm>
          <a:prstGeom prst="rect">
            <a:avLst/>
          </a:prstGeom>
          <a:noFill/>
        </p:spPr>
        <p:txBody>
          <a:bodyPr wrap="square">
            <a:spAutoFit/>
          </a:bodyPr>
          <a:lstStyle/>
          <a:p>
            <a:pPr>
              <a:defRPr sz="1100" b="1">
                <a:solidFill>
                  <a:srgbClr val="EF4444"/>
                </a:solidFill>
                <a:latin typeface="Trebuchet MS"/>
              </a:defRPr>
            </a:pPr>
            <a:r>
              <a:t>PAIN POINT: Retail Inventory Scraping &amp; Price War</a:t>
            </a:r>
          </a:p>
          <a:p>
            <a:pPr>
              <a:spcBef>
                <a:spcPts val="200"/>
              </a:spcBef>
              <a:defRPr sz="1000">
                <a:solidFill>
                  <a:srgbClr val="64748B"/>
                </a:solidFill>
                <a:latin typeface="Calibri"/>
              </a:defRPr>
            </a:pPr>
            <a:r>
              <a:t>Competitors and retail customers scrape warehouse inventory levels and wholesale pricing, creating channel conflict.</a:t>
            </a:r>
          </a:p>
        </p:txBody>
      </p:sp>
      <p:sp>
        <p:nvSpPr>
          <p:cNvPr id="9" name="Rounded Rectangle 8"/>
          <p:cNvSpPr/>
          <p:nvPr/>
        </p:nvSpPr>
        <p:spPr>
          <a:xfrm>
            <a:off x="6309360" y="1645920"/>
            <a:ext cx="5120640" cy="105156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645920"/>
            <a:ext cx="73152" cy="105156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737360"/>
            <a:ext cx="4846320" cy="868680"/>
          </a:xfrm>
          <a:prstGeom prst="rect">
            <a:avLst/>
          </a:prstGeom>
          <a:noFill/>
        </p:spPr>
        <p:txBody>
          <a:bodyPr wrap="square">
            <a:spAutoFit/>
          </a:bodyPr>
          <a:lstStyle/>
          <a:p>
            <a:pPr>
              <a:defRPr sz="1100" b="1">
                <a:solidFill>
                  <a:srgbClr val="0284C7"/>
                </a:solidFill>
                <a:latin typeface="Trebuchet MS"/>
              </a:defRPr>
            </a:pPr>
            <a:r>
              <a:t>PLUMBMART SOLUTION: Selective Information Obfuscation</a:t>
            </a:r>
          </a:p>
          <a:p>
            <a:pPr>
              <a:spcBef>
                <a:spcPts val="200"/>
              </a:spcBef>
              <a:defRPr sz="1000">
                <a:solidFill>
                  <a:srgbClr val="0F172A"/>
                </a:solidFill>
                <a:latin typeface="Calibri"/>
              </a:defRPr>
            </a:pPr>
            <a:r>
              <a:t>Retail customers see 'In Stock' availability without exact warehouse counts. Dealers view live exact quantities and MOQ.</a:t>
            </a:r>
          </a:p>
        </p:txBody>
      </p:sp>
      <p:sp>
        <p:nvSpPr>
          <p:cNvPr id="12" name="Rounded Rectangle 11"/>
          <p:cNvSpPr/>
          <p:nvPr/>
        </p:nvSpPr>
        <p:spPr>
          <a:xfrm>
            <a:off x="731520" y="2816352"/>
            <a:ext cx="5120640" cy="1051560"/>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2816352"/>
            <a:ext cx="73152" cy="10515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907792"/>
            <a:ext cx="4846320" cy="868680"/>
          </a:xfrm>
          <a:prstGeom prst="rect">
            <a:avLst/>
          </a:prstGeom>
          <a:noFill/>
        </p:spPr>
        <p:txBody>
          <a:bodyPr wrap="square">
            <a:spAutoFit/>
          </a:bodyPr>
          <a:lstStyle/>
          <a:p>
            <a:pPr>
              <a:defRPr sz="1100" b="1">
                <a:solidFill>
                  <a:srgbClr val="EF4444"/>
                </a:solidFill>
                <a:latin typeface="Trebuchet MS"/>
              </a:defRPr>
            </a:pPr>
            <a:r>
              <a:t>PAIN POINT: Rogue Wholesale Accounts &amp; Credit Defaults</a:t>
            </a:r>
          </a:p>
          <a:p>
            <a:pPr>
              <a:spcBef>
                <a:spcPts val="200"/>
              </a:spcBef>
              <a:defRPr sz="1000">
                <a:solidFill>
                  <a:srgbClr val="64748B"/>
                </a:solidFill>
                <a:latin typeface="Calibri"/>
              </a:defRPr>
            </a:pPr>
            <a:r>
              <a:t>Unvetted dealers sign up, make credit orders, and default on post-dated payments without verification.</a:t>
            </a:r>
          </a:p>
        </p:txBody>
      </p:sp>
      <p:sp>
        <p:nvSpPr>
          <p:cNvPr id="15" name="Rounded Rectangle 14"/>
          <p:cNvSpPr/>
          <p:nvPr/>
        </p:nvSpPr>
        <p:spPr>
          <a:xfrm>
            <a:off x="6309360" y="2816352"/>
            <a:ext cx="5120640" cy="1051560"/>
          </a:xfrm>
          <a:prstGeom prst="round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09360" y="2816352"/>
            <a:ext cx="73152" cy="10515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92240" y="2907792"/>
            <a:ext cx="4846320" cy="868680"/>
          </a:xfrm>
          <a:prstGeom prst="rect">
            <a:avLst/>
          </a:prstGeom>
          <a:noFill/>
        </p:spPr>
        <p:txBody>
          <a:bodyPr wrap="square">
            <a:spAutoFit/>
          </a:bodyPr>
          <a:lstStyle/>
          <a:p>
            <a:pPr>
              <a:defRPr sz="1100" b="1">
                <a:solidFill>
                  <a:srgbClr val="F59E0B"/>
                </a:solidFill>
                <a:latin typeface="Trebuchet MS"/>
              </a:defRPr>
            </a:pPr>
            <a:r>
              <a:t>PLUMBMART SOLUTION: Zoho CRM Verification &amp; Admin Credit Approval</a:t>
            </a:r>
          </a:p>
          <a:p>
            <a:pPr>
              <a:spcBef>
                <a:spcPts val="200"/>
              </a:spcBef>
              <a:defRPr sz="1000">
                <a:solidFill>
                  <a:srgbClr val="0F172A"/>
                </a:solidFill>
                <a:latin typeface="Calibri"/>
              </a:defRPr>
            </a:pPr>
            <a:r>
              <a:t>Dealers blocked at login unless pre-verified in Zoho CRM. 30 and 90-day credit checkouts require strict admin credit line approval.</a:t>
            </a:r>
          </a:p>
        </p:txBody>
      </p:sp>
      <p:sp>
        <p:nvSpPr>
          <p:cNvPr id="18" name="Rounded Rectangle 17"/>
          <p:cNvSpPr/>
          <p:nvPr/>
        </p:nvSpPr>
        <p:spPr>
          <a:xfrm>
            <a:off x="731520" y="3986784"/>
            <a:ext cx="5120640" cy="1051560"/>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3986784"/>
            <a:ext cx="73152" cy="10515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078224"/>
            <a:ext cx="4846320" cy="868680"/>
          </a:xfrm>
          <a:prstGeom prst="rect">
            <a:avLst/>
          </a:prstGeom>
          <a:noFill/>
        </p:spPr>
        <p:txBody>
          <a:bodyPr wrap="square">
            <a:spAutoFit/>
          </a:bodyPr>
          <a:lstStyle/>
          <a:p>
            <a:pPr>
              <a:defRPr sz="1100" b="1">
                <a:solidFill>
                  <a:srgbClr val="EF4444"/>
                </a:solidFill>
                <a:latin typeface="Trebuchet MS"/>
              </a:defRPr>
            </a:pPr>
            <a:r>
              <a:t>PAIN POINT: Disconnected Field Installation Service</a:t>
            </a:r>
          </a:p>
          <a:p>
            <a:pPr>
              <a:spcBef>
                <a:spcPts val="200"/>
              </a:spcBef>
              <a:defRPr sz="1000">
                <a:solidFill>
                  <a:srgbClr val="64748B"/>
                </a:solidFill>
                <a:latin typeface="Calibri"/>
              </a:defRPr>
            </a:pPr>
            <a:r>
              <a:t>Customers buy technical sanitaryware and struggle to find qualified, verified plumbers for proper installation.</a:t>
            </a:r>
          </a:p>
        </p:txBody>
      </p:sp>
      <p:sp>
        <p:nvSpPr>
          <p:cNvPr id="21" name="Rounded Rectangle 20"/>
          <p:cNvSpPr/>
          <p:nvPr/>
        </p:nvSpPr>
        <p:spPr>
          <a:xfrm>
            <a:off x="6309360" y="3986784"/>
            <a:ext cx="5120640" cy="1051560"/>
          </a:xfrm>
          <a:prstGeom prst="roundRect">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09360" y="3986784"/>
            <a:ext cx="73152" cy="10515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4078224"/>
            <a:ext cx="4846320" cy="868680"/>
          </a:xfrm>
          <a:prstGeom prst="rect">
            <a:avLst/>
          </a:prstGeom>
          <a:noFill/>
        </p:spPr>
        <p:txBody>
          <a:bodyPr wrap="square">
            <a:spAutoFit/>
          </a:bodyPr>
          <a:lstStyle/>
          <a:p>
            <a:pPr>
              <a:defRPr sz="1100" b="1">
                <a:solidFill>
                  <a:srgbClr val="10B981"/>
                </a:solidFill>
                <a:latin typeface="Trebuchet MS"/>
              </a:defRPr>
            </a:pPr>
            <a:r>
              <a:t>PLUMBMART SOLUTION: Integrated Plumber Dispatch &amp; Loyalty Ledger</a:t>
            </a:r>
          </a:p>
          <a:p>
            <a:pPr>
              <a:spcBef>
                <a:spcPts val="200"/>
              </a:spcBef>
              <a:defRPr sz="1000">
                <a:solidFill>
                  <a:srgbClr val="0F172A"/>
                </a:solidFill>
                <a:latin typeface="Calibri"/>
              </a:defRPr>
            </a:pPr>
            <a:r>
              <a:t>Customer orders seamlessly trigger installation tickets to KYC-verified plumbers, complete with technical specs and reward points.</a:t>
            </a:r>
          </a:p>
        </p:txBody>
      </p:sp>
      <p:sp>
        <p:nvSpPr>
          <p:cNvPr id="24" name="Rounded Rectangle 23"/>
          <p:cNvSpPr/>
          <p:nvPr/>
        </p:nvSpPr>
        <p:spPr>
          <a:xfrm>
            <a:off x="731520" y="5157216"/>
            <a:ext cx="5120640" cy="1051560"/>
          </a:xfrm>
          <a:prstGeom prst="roundRect">
            <a:avLst/>
          </a:prstGeom>
          <a:solidFill>
            <a:srgbClr val="FFFFFF"/>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1520" y="5157216"/>
            <a:ext cx="73152" cy="105156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248655"/>
            <a:ext cx="4846320" cy="868680"/>
          </a:xfrm>
          <a:prstGeom prst="rect">
            <a:avLst/>
          </a:prstGeom>
          <a:noFill/>
        </p:spPr>
        <p:txBody>
          <a:bodyPr wrap="square">
            <a:spAutoFit/>
          </a:bodyPr>
          <a:lstStyle/>
          <a:p>
            <a:pPr>
              <a:defRPr sz="1100" b="1">
                <a:solidFill>
                  <a:srgbClr val="EF4444"/>
                </a:solidFill>
                <a:latin typeface="Trebuchet MS"/>
              </a:defRPr>
            </a:pPr>
            <a:r>
              <a:t>PAIN POINT: ERP Inventory Desynchronization</a:t>
            </a:r>
          </a:p>
          <a:p>
            <a:pPr>
              <a:spcBef>
                <a:spcPts val="200"/>
              </a:spcBef>
              <a:defRPr sz="1000">
                <a:solidFill>
                  <a:srgbClr val="64748B"/>
                </a:solidFill>
                <a:latin typeface="Calibri"/>
              </a:defRPr>
            </a:pPr>
            <a:r>
              <a:t>Web store inventory diverges from physical warehouse books, leading to painful stockouts and backorders.</a:t>
            </a:r>
          </a:p>
        </p:txBody>
      </p:sp>
      <p:sp>
        <p:nvSpPr>
          <p:cNvPr id="27" name="Rounded Rectangle 26"/>
          <p:cNvSpPr/>
          <p:nvPr/>
        </p:nvSpPr>
        <p:spPr>
          <a:xfrm>
            <a:off x="6309360" y="5157216"/>
            <a:ext cx="5120640" cy="1051560"/>
          </a:xfrm>
          <a:prstGeom prst="roundRect">
            <a:avLst/>
          </a:prstGeom>
          <a:solidFill>
            <a:srgbClr val="FFFFFF"/>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09360" y="5157216"/>
            <a:ext cx="73152" cy="105156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5248655"/>
            <a:ext cx="4846320" cy="868680"/>
          </a:xfrm>
          <a:prstGeom prst="rect">
            <a:avLst/>
          </a:prstGeom>
          <a:noFill/>
        </p:spPr>
        <p:txBody>
          <a:bodyPr wrap="square">
            <a:spAutoFit/>
          </a:bodyPr>
          <a:lstStyle/>
          <a:p>
            <a:pPr>
              <a:defRPr sz="1100" b="1">
                <a:solidFill>
                  <a:srgbClr val="6366F1"/>
                </a:solidFill>
                <a:latin typeface="Trebuchet MS"/>
              </a:defRPr>
            </a:pPr>
            <a:r>
              <a:t>PLUMBMART SOLUTION: Automated Zoho Inventory Webhook &amp; OAuth Sync</a:t>
            </a:r>
          </a:p>
          <a:p>
            <a:pPr>
              <a:spcBef>
                <a:spcPts val="200"/>
              </a:spcBef>
              <a:defRPr sz="1000">
                <a:solidFill>
                  <a:srgbClr val="0F172A"/>
                </a:solidFill>
                <a:latin typeface="Calibri"/>
              </a:defRPr>
            </a:pPr>
            <a:r>
              <a:t>Unified Zoho Inventory token engine continuously updates prices, stock levels, and customer contacts across all platforms.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91840" cy="292608"/>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50" b="1">
                <a:solidFill>
                  <a:srgbClr val="06B6D4"/>
                </a:solidFill>
                <a:latin typeface="Trebuchet MS"/>
              </a:defRPr>
            </a:pPr>
            <a:r>
              <a:t>SYSTEM DESIGN</a:t>
            </a:r>
          </a:p>
        </p:txBody>
      </p:sp>
      <p:sp>
        <p:nvSpPr>
          <p:cNvPr id="4" name="TextBox 3"/>
          <p:cNvSpPr txBox="1"/>
          <p:nvPr/>
        </p:nvSpPr>
        <p:spPr>
          <a:xfrm>
            <a:off x="685800" y="749808"/>
            <a:ext cx="10789920" cy="640080"/>
          </a:xfrm>
          <a:prstGeom prst="rect">
            <a:avLst/>
          </a:prstGeom>
          <a:noFill/>
        </p:spPr>
        <p:txBody>
          <a:bodyPr wrap="square" tIns="0" bIns="0" lIns="0" rIns="0">
            <a:spAutoFit/>
          </a:bodyPr>
          <a:lstStyle/>
          <a:p>
            <a:pPr>
              <a:defRPr sz="2200" b="1">
                <a:solidFill>
                  <a:srgbClr val="FFFFFF"/>
                </a:solidFill>
                <a:latin typeface="Trebuchet MS"/>
              </a:defRPr>
            </a:pPr>
            <a:r>
              <a:t>Full-Stack System Architecture &amp; Technology Stack</a:t>
            </a:r>
          </a:p>
        </p:txBody>
      </p:sp>
      <p:sp>
        <p:nvSpPr>
          <p:cNvPr id="5" name="Rectangle 4"/>
          <p:cNvSpPr/>
          <p:nvPr/>
        </p:nvSpPr>
        <p:spPr>
          <a:xfrm>
            <a:off x="731520" y="1444752"/>
            <a:ext cx="10728655" cy="2743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2514600" cy="4572000"/>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514600" cy="41148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Trebuchet MS"/>
              </a:defRPr>
            </a:pPr>
            <a:r>
              <a:t>Frontend Client Tier</a:t>
            </a:r>
          </a:p>
        </p:txBody>
      </p:sp>
      <p:sp>
        <p:nvSpPr>
          <p:cNvPr id="8" name="TextBox 7"/>
          <p:cNvSpPr txBox="1"/>
          <p:nvPr/>
        </p:nvSpPr>
        <p:spPr>
          <a:xfrm>
            <a:off x="868680" y="2194560"/>
            <a:ext cx="2240280" cy="3931920"/>
          </a:xfrm>
          <a:prstGeom prst="rect">
            <a:avLst/>
          </a:prstGeom>
          <a:noFill/>
        </p:spPr>
        <p:txBody>
          <a:bodyPr wrap="square">
            <a:spAutoFit/>
          </a:bodyPr>
          <a:lstStyle/>
          <a:p>
            <a:pPr>
              <a:defRPr sz="1000" b="1">
                <a:solidFill>
                  <a:srgbClr val="0284C7"/>
                </a:solidFill>
                <a:latin typeface="Trebuchet MS"/>
              </a:defRPr>
            </a:pPr>
            <a:r>
              <a:t>Framework</a:t>
            </a:r>
          </a:p>
          <a:p>
            <a:pPr>
              <a:spcBef>
                <a:spcPts val="200"/>
              </a:spcBef>
              <a:defRPr sz="950">
                <a:solidFill>
                  <a:srgbClr val="94A3B8"/>
                </a:solidFill>
                <a:latin typeface="Calibri"/>
              </a:defRPr>
            </a:pPr>
            <a:r>
              <a:t>React 18 &amp; Vite SPA</a:t>
            </a:r>
          </a:p>
          <a:p>
            <a:pPr>
              <a:spcBef>
                <a:spcPts val="1000"/>
              </a:spcBef>
              <a:defRPr sz="1000" b="1">
                <a:solidFill>
                  <a:srgbClr val="0284C7"/>
                </a:solidFill>
                <a:latin typeface="Trebuchet MS"/>
              </a:defRPr>
            </a:pPr>
            <a:r>
              <a:t>Styling</a:t>
            </a:r>
          </a:p>
          <a:p>
            <a:pPr>
              <a:spcBef>
                <a:spcPts val="200"/>
              </a:spcBef>
              <a:defRPr sz="950">
                <a:solidFill>
                  <a:srgbClr val="94A3B8"/>
                </a:solidFill>
                <a:latin typeface="Calibri"/>
              </a:defRPr>
            </a:pPr>
            <a:r>
              <a:t>Tailwind CSS &amp; Responsive UI</a:t>
            </a:r>
          </a:p>
          <a:p>
            <a:pPr>
              <a:spcBef>
                <a:spcPts val="1000"/>
              </a:spcBef>
              <a:defRPr sz="1000" b="1">
                <a:solidFill>
                  <a:srgbClr val="0284C7"/>
                </a:solidFill>
                <a:latin typeface="Trebuchet MS"/>
              </a:defRPr>
            </a:pPr>
            <a:r>
              <a:t>Routing</a:t>
            </a:r>
          </a:p>
          <a:p>
            <a:pPr>
              <a:spcBef>
                <a:spcPts val="200"/>
              </a:spcBef>
              <a:defRPr sz="950">
                <a:solidFill>
                  <a:srgbClr val="94A3B8"/>
                </a:solidFill>
                <a:latin typeface="Calibri"/>
              </a:defRPr>
            </a:pPr>
            <a:r>
              <a:t>React Router v7 Dynamic Guards</a:t>
            </a:r>
          </a:p>
          <a:p>
            <a:pPr>
              <a:spcBef>
                <a:spcPts val="1000"/>
              </a:spcBef>
              <a:defRPr sz="1000" b="1">
                <a:solidFill>
                  <a:srgbClr val="0284C7"/>
                </a:solidFill>
                <a:latin typeface="Trebuchet MS"/>
              </a:defRPr>
            </a:pPr>
            <a:r>
              <a:t>Icons &amp; UX</a:t>
            </a:r>
          </a:p>
          <a:p>
            <a:pPr>
              <a:spcBef>
                <a:spcPts val="200"/>
              </a:spcBef>
              <a:defRPr sz="950">
                <a:solidFill>
                  <a:srgbClr val="94A3B8"/>
                </a:solidFill>
                <a:latin typeface="Calibri"/>
              </a:defRPr>
            </a:pPr>
            <a:r>
              <a:t>Lucide React, In-App Toasts</a:t>
            </a:r>
          </a:p>
          <a:p>
            <a:pPr>
              <a:spcBef>
                <a:spcPts val="1000"/>
              </a:spcBef>
              <a:defRPr sz="1000" b="1">
                <a:solidFill>
                  <a:srgbClr val="0284C7"/>
                </a:solidFill>
                <a:latin typeface="Trebuchet MS"/>
              </a:defRPr>
            </a:pPr>
            <a:r>
              <a:t>Cart &amp; State</a:t>
            </a:r>
          </a:p>
          <a:p>
            <a:pPr>
              <a:spcBef>
                <a:spcPts val="200"/>
              </a:spcBef>
              <a:defRPr sz="950">
                <a:solidFill>
                  <a:srgbClr val="94A3B8"/>
                </a:solidFill>
                <a:latin typeface="Calibri"/>
              </a:defRPr>
            </a:pPr>
            <a:r>
              <a:t>Role-separated local storage session engines</a:t>
            </a:r>
          </a:p>
        </p:txBody>
      </p:sp>
      <p:sp>
        <p:nvSpPr>
          <p:cNvPr id="9" name="Rounded Rectangle 8"/>
          <p:cNvSpPr/>
          <p:nvPr/>
        </p:nvSpPr>
        <p:spPr>
          <a:xfrm>
            <a:off x="3465576" y="1645920"/>
            <a:ext cx="2514600" cy="4572000"/>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65576" y="1645920"/>
            <a:ext cx="2514600" cy="41148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Trebuchet MS"/>
              </a:defRPr>
            </a:pPr>
            <a:r>
              <a:t>Backend Services Tier</a:t>
            </a:r>
          </a:p>
        </p:txBody>
      </p:sp>
      <p:sp>
        <p:nvSpPr>
          <p:cNvPr id="11" name="TextBox 10"/>
          <p:cNvSpPr txBox="1"/>
          <p:nvPr/>
        </p:nvSpPr>
        <p:spPr>
          <a:xfrm>
            <a:off x="3602736" y="2194560"/>
            <a:ext cx="2240280" cy="3931920"/>
          </a:xfrm>
          <a:prstGeom prst="rect">
            <a:avLst/>
          </a:prstGeom>
          <a:noFill/>
        </p:spPr>
        <p:txBody>
          <a:bodyPr wrap="square">
            <a:spAutoFit/>
          </a:bodyPr>
          <a:lstStyle/>
          <a:p>
            <a:pPr>
              <a:defRPr sz="1000" b="1">
                <a:solidFill>
                  <a:srgbClr val="06B6D4"/>
                </a:solidFill>
                <a:latin typeface="Trebuchet MS"/>
              </a:defRPr>
            </a:pPr>
            <a:r>
              <a:t>Server</a:t>
            </a:r>
          </a:p>
          <a:p>
            <a:pPr>
              <a:spcBef>
                <a:spcPts val="200"/>
              </a:spcBef>
              <a:defRPr sz="950">
                <a:solidFill>
                  <a:srgbClr val="94A3B8"/>
                </a:solidFill>
                <a:latin typeface="Calibri"/>
              </a:defRPr>
            </a:pPr>
            <a:r>
              <a:t>Node.js &amp; Express.js REST API</a:t>
            </a:r>
          </a:p>
          <a:p>
            <a:pPr>
              <a:spcBef>
                <a:spcPts val="1000"/>
              </a:spcBef>
              <a:defRPr sz="1000" b="1">
                <a:solidFill>
                  <a:srgbClr val="06B6D4"/>
                </a:solidFill>
                <a:latin typeface="Trebuchet MS"/>
              </a:defRPr>
            </a:pPr>
            <a:r>
              <a:t>Security</a:t>
            </a:r>
          </a:p>
          <a:p>
            <a:pPr>
              <a:spcBef>
                <a:spcPts val="200"/>
              </a:spcBef>
              <a:defRPr sz="950">
                <a:solidFill>
                  <a:srgbClr val="94A3B8"/>
                </a:solidFill>
                <a:latin typeface="Calibri"/>
              </a:defRPr>
            </a:pPr>
            <a:r>
              <a:t>CORS, Role RBAC, Rate-limiting</a:t>
            </a:r>
          </a:p>
          <a:p>
            <a:pPr>
              <a:spcBef>
                <a:spcPts val="1000"/>
              </a:spcBef>
              <a:defRPr sz="1000" b="1">
                <a:solidFill>
                  <a:srgbClr val="06B6D4"/>
                </a:solidFill>
                <a:latin typeface="Trebuchet MS"/>
              </a:defRPr>
            </a:pPr>
            <a:r>
              <a:t>OTP Engine</a:t>
            </a:r>
          </a:p>
          <a:p>
            <a:pPr>
              <a:spcBef>
                <a:spcPts val="200"/>
              </a:spcBef>
              <a:defRPr sz="950">
                <a:solidFill>
                  <a:srgbClr val="94A3B8"/>
                </a:solidFill>
                <a:latin typeface="Calibri"/>
              </a:defRPr>
            </a:pPr>
            <a:r>
              <a:t>Multi-factor OTP (Demo/Firebase)</a:t>
            </a:r>
          </a:p>
          <a:p>
            <a:pPr>
              <a:spcBef>
                <a:spcPts val="1000"/>
              </a:spcBef>
              <a:defRPr sz="1000" b="1">
                <a:solidFill>
                  <a:srgbClr val="06B6D4"/>
                </a:solidFill>
                <a:latin typeface="Trebuchet MS"/>
              </a:defRPr>
            </a:pPr>
            <a:r>
              <a:t>Notifications</a:t>
            </a:r>
          </a:p>
          <a:p>
            <a:pPr>
              <a:spcBef>
                <a:spcPts val="200"/>
              </a:spcBef>
              <a:defRPr sz="950">
                <a:solidFill>
                  <a:srgbClr val="94A3B8"/>
                </a:solidFill>
                <a:latin typeface="Calibri"/>
              </a:defRPr>
            </a:pPr>
            <a:r>
              <a:t>Nodemailer SMTP HTML receipts</a:t>
            </a:r>
          </a:p>
          <a:p>
            <a:pPr>
              <a:spcBef>
                <a:spcPts val="1000"/>
              </a:spcBef>
              <a:defRPr sz="1000" b="1">
                <a:solidFill>
                  <a:srgbClr val="06B6D4"/>
                </a:solidFill>
                <a:latin typeface="Trebuchet MS"/>
              </a:defRPr>
            </a:pPr>
            <a:r>
              <a:t>SVG Factory</a:t>
            </a:r>
          </a:p>
          <a:p>
            <a:pPr>
              <a:spcBef>
                <a:spcPts val="200"/>
              </a:spcBef>
              <a:defRPr sz="950">
                <a:solidFill>
                  <a:srgbClr val="94A3B8"/>
                </a:solidFill>
                <a:latin typeface="Calibri"/>
              </a:defRPr>
            </a:pPr>
            <a:r>
              <a:t>Automated plumbing schematic SVG generation</a:t>
            </a:r>
          </a:p>
        </p:txBody>
      </p:sp>
      <p:sp>
        <p:nvSpPr>
          <p:cNvPr id="12" name="Rounded Rectangle 11"/>
          <p:cNvSpPr/>
          <p:nvPr/>
        </p:nvSpPr>
        <p:spPr>
          <a:xfrm>
            <a:off x="6199632" y="1645920"/>
            <a:ext cx="2514600" cy="457200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1645920"/>
            <a:ext cx="2514600" cy="41148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Trebuchet MS"/>
              </a:defRPr>
            </a:pPr>
            <a:r>
              <a:t>Data &amp; Storage Engine</a:t>
            </a:r>
          </a:p>
        </p:txBody>
      </p:sp>
      <p:sp>
        <p:nvSpPr>
          <p:cNvPr id="14" name="TextBox 13"/>
          <p:cNvSpPr txBox="1"/>
          <p:nvPr/>
        </p:nvSpPr>
        <p:spPr>
          <a:xfrm>
            <a:off x="6336792" y="2194560"/>
            <a:ext cx="2240280" cy="3931920"/>
          </a:xfrm>
          <a:prstGeom prst="rect">
            <a:avLst/>
          </a:prstGeom>
          <a:noFill/>
        </p:spPr>
        <p:txBody>
          <a:bodyPr wrap="square">
            <a:spAutoFit/>
          </a:bodyPr>
          <a:lstStyle/>
          <a:p>
            <a:pPr>
              <a:defRPr sz="1000" b="1">
                <a:solidFill>
                  <a:srgbClr val="10B981"/>
                </a:solidFill>
                <a:latin typeface="Trebuchet MS"/>
              </a:defRPr>
            </a:pPr>
            <a:r>
              <a:t>Primary DB</a:t>
            </a:r>
          </a:p>
          <a:p>
            <a:pPr>
              <a:spcBef>
                <a:spcPts val="200"/>
              </a:spcBef>
              <a:defRPr sz="950">
                <a:solidFill>
                  <a:srgbClr val="94A3B8"/>
                </a:solidFill>
                <a:latin typeface="Calibri"/>
              </a:defRPr>
            </a:pPr>
            <a:r>
              <a:t>Supabase Managed PostgreSQL</a:t>
            </a:r>
          </a:p>
          <a:p>
            <a:pPr>
              <a:spcBef>
                <a:spcPts val="1000"/>
              </a:spcBef>
              <a:defRPr sz="1000" b="1">
                <a:solidFill>
                  <a:srgbClr val="10B981"/>
                </a:solidFill>
                <a:latin typeface="Trebuchet MS"/>
              </a:defRPr>
            </a:pPr>
            <a:r>
              <a:t>Pooler</a:t>
            </a:r>
          </a:p>
          <a:p>
            <a:pPr>
              <a:spcBef>
                <a:spcPts val="200"/>
              </a:spcBef>
              <a:defRPr sz="950">
                <a:solidFill>
                  <a:srgbClr val="94A3B8"/>
                </a:solidFill>
                <a:latin typeface="Calibri"/>
              </a:defRPr>
            </a:pPr>
            <a:r>
              <a:t>pg connection pool (10 connections, 8s timeout)</a:t>
            </a:r>
          </a:p>
          <a:p>
            <a:pPr>
              <a:spcBef>
                <a:spcPts val="1000"/>
              </a:spcBef>
              <a:defRPr sz="1000" b="1">
                <a:solidFill>
                  <a:srgbClr val="10B981"/>
                </a:solidFill>
                <a:latin typeface="Trebuchet MS"/>
              </a:defRPr>
            </a:pPr>
            <a:r>
              <a:t>Resilience</a:t>
            </a:r>
          </a:p>
          <a:p>
            <a:pPr>
              <a:spcBef>
                <a:spcPts val="200"/>
              </a:spcBef>
              <a:defRPr sz="950">
                <a:solidFill>
                  <a:srgbClr val="94A3B8"/>
                </a:solidFill>
                <a:latin typeface="Calibri"/>
              </a:defRPr>
            </a:pPr>
            <a:r>
              <a:t>Atomic JSON database fallback</a:t>
            </a:r>
          </a:p>
          <a:p>
            <a:pPr>
              <a:spcBef>
                <a:spcPts val="1000"/>
              </a:spcBef>
              <a:defRPr sz="1000" b="1">
                <a:solidFill>
                  <a:srgbClr val="10B981"/>
                </a:solidFill>
                <a:latin typeface="Trebuchet MS"/>
              </a:defRPr>
            </a:pPr>
            <a:r>
              <a:t>Integrity</a:t>
            </a:r>
          </a:p>
          <a:p>
            <a:pPr>
              <a:spcBef>
                <a:spcPts val="200"/>
              </a:spcBef>
              <a:defRPr sz="950">
                <a:solidFill>
                  <a:srgbClr val="94A3B8"/>
                </a:solidFill>
                <a:latin typeface="Calibri"/>
              </a:defRPr>
            </a:pPr>
            <a:r>
              <a:t>Dynamic table schema initialization</a:t>
            </a:r>
          </a:p>
          <a:p>
            <a:pPr>
              <a:spcBef>
                <a:spcPts val="1000"/>
              </a:spcBef>
              <a:defRPr sz="1000" b="1">
                <a:solidFill>
                  <a:srgbClr val="10B981"/>
                </a:solidFill>
                <a:latin typeface="Trebuchet MS"/>
              </a:defRPr>
            </a:pPr>
            <a:r>
              <a:t>Audit Trail</a:t>
            </a:r>
          </a:p>
          <a:p>
            <a:pPr>
              <a:spcBef>
                <a:spcPts val="200"/>
              </a:spcBef>
              <a:defRPr sz="950">
                <a:solidFill>
                  <a:srgbClr val="94A3B8"/>
                </a:solidFill>
                <a:latin typeface="Calibri"/>
              </a:defRPr>
            </a:pPr>
            <a:r>
              <a:t>Full order &amp; transactional history</a:t>
            </a:r>
          </a:p>
        </p:txBody>
      </p:sp>
      <p:sp>
        <p:nvSpPr>
          <p:cNvPr id="15" name="Rounded Rectangle 14"/>
          <p:cNvSpPr/>
          <p:nvPr/>
        </p:nvSpPr>
        <p:spPr>
          <a:xfrm>
            <a:off x="8933688" y="1645920"/>
            <a:ext cx="2514600" cy="4572000"/>
          </a:xfrm>
          <a:prstGeom prst="round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33688" y="1645920"/>
            <a:ext cx="2514600" cy="41148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Trebuchet MS"/>
              </a:defRPr>
            </a:pPr>
            <a:r>
              <a:t>Integrations Tier</a:t>
            </a:r>
          </a:p>
        </p:txBody>
      </p:sp>
      <p:sp>
        <p:nvSpPr>
          <p:cNvPr id="17" name="TextBox 16"/>
          <p:cNvSpPr txBox="1"/>
          <p:nvPr/>
        </p:nvSpPr>
        <p:spPr>
          <a:xfrm>
            <a:off x="9070848" y="2194560"/>
            <a:ext cx="2240280" cy="3931920"/>
          </a:xfrm>
          <a:prstGeom prst="rect">
            <a:avLst/>
          </a:prstGeom>
          <a:noFill/>
        </p:spPr>
        <p:txBody>
          <a:bodyPr wrap="square">
            <a:spAutoFit/>
          </a:bodyPr>
          <a:lstStyle/>
          <a:p>
            <a:pPr>
              <a:defRPr sz="1000" b="1">
                <a:solidFill>
                  <a:srgbClr val="6366F1"/>
                </a:solidFill>
                <a:latin typeface="Trebuchet MS"/>
              </a:defRPr>
            </a:pPr>
            <a:r>
              <a:t>Zoho OAuth 2.0</a:t>
            </a:r>
          </a:p>
          <a:p>
            <a:pPr>
              <a:spcBef>
                <a:spcPts val="200"/>
              </a:spcBef>
              <a:defRPr sz="950">
                <a:solidFill>
                  <a:srgbClr val="94A3B8"/>
                </a:solidFill>
                <a:latin typeface="Calibri"/>
              </a:defRPr>
            </a:pPr>
            <a:r>
              <a:t>Auto-refreshing access token engine</a:t>
            </a:r>
          </a:p>
          <a:p>
            <a:pPr>
              <a:spcBef>
                <a:spcPts val="1000"/>
              </a:spcBef>
              <a:defRPr sz="1000" b="1">
                <a:solidFill>
                  <a:srgbClr val="6366F1"/>
                </a:solidFill>
                <a:latin typeface="Trebuchet MS"/>
              </a:defRPr>
            </a:pPr>
            <a:r>
              <a:t>Zoho Inventory</a:t>
            </a:r>
          </a:p>
          <a:p>
            <a:pPr>
              <a:spcBef>
                <a:spcPts val="200"/>
              </a:spcBef>
              <a:defRPr sz="950">
                <a:solidFill>
                  <a:srgbClr val="94A3B8"/>
                </a:solidFill>
                <a:latin typeface="Calibri"/>
              </a:defRPr>
            </a:pPr>
            <a:r>
              <a:t>Live sync for stock, items, price books</a:t>
            </a:r>
          </a:p>
          <a:p>
            <a:pPr>
              <a:spcBef>
                <a:spcPts val="1000"/>
              </a:spcBef>
              <a:defRPr sz="1000" b="1">
                <a:solidFill>
                  <a:srgbClr val="6366F1"/>
                </a:solidFill>
                <a:latin typeface="Trebuchet MS"/>
              </a:defRPr>
            </a:pPr>
            <a:r>
              <a:t>Zoho CRM</a:t>
            </a:r>
          </a:p>
          <a:p>
            <a:pPr>
              <a:spcBef>
                <a:spcPts val="200"/>
              </a:spcBef>
              <a:defRPr sz="950">
                <a:solidFill>
                  <a:srgbClr val="94A3B8"/>
                </a:solidFill>
                <a:latin typeface="Calibri"/>
              </a:defRPr>
            </a:pPr>
            <a:r>
              <a:t>Dealer contact verification gateway</a:t>
            </a:r>
          </a:p>
          <a:p>
            <a:pPr>
              <a:spcBef>
                <a:spcPts val="1000"/>
              </a:spcBef>
              <a:defRPr sz="1000" b="1">
                <a:solidFill>
                  <a:srgbClr val="6366F1"/>
                </a:solidFill>
                <a:latin typeface="Trebuchet MS"/>
              </a:defRPr>
            </a:pPr>
            <a:r>
              <a:t>Firebase Auth</a:t>
            </a:r>
          </a:p>
          <a:p>
            <a:pPr>
              <a:spcBef>
                <a:spcPts val="200"/>
              </a:spcBef>
              <a:defRPr sz="950">
                <a:solidFill>
                  <a:srgbClr val="94A3B8"/>
                </a:solidFill>
                <a:latin typeface="Calibri"/>
              </a:defRPr>
            </a:pPr>
            <a:r>
              <a:t>Secure mobile phone verification</a:t>
            </a:r>
          </a:p>
          <a:p>
            <a:pPr>
              <a:spcBef>
                <a:spcPts val="1000"/>
              </a:spcBef>
              <a:defRPr sz="1000" b="1">
                <a:solidFill>
                  <a:srgbClr val="6366F1"/>
                </a:solidFill>
                <a:latin typeface="Trebuchet MS"/>
              </a:defRPr>
            </a:pPr>
            <a:r>
              <a:t>Webhooks</a:t>
            </a:r>
          </a:p>
          <a:p>
            <a:pPr>
              <a:spcBef>
                <a:spcPts val="200"/>
              </a:spcBef>
              <a:defRPr sz="950">
                <a:solidFill>
                  <a:srgbClr val="94A3B8"/>
                </a:solidFill>
                <a:latin typeface="Calibri"/>
              </a:defRPr>
            </a:pPr>
            <a:r>
              <a:t>Live event ingestion &amp; synchronization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9184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50" b="1">
                <a:solidFill>
                  <a:srgbClr val="0284C7"/>
                </a:solidFill>
                <a:latin typeface="Trebuchet MS"/>
              </a:defRPr>
            </a:pPr>
            <a:r>
              <a:t>USER EXPERIENCE</a:t>
            </a:r>
          </a:p>
        </p:txBody>
      </p:sp>
      <p:sp>
        <p:nvSpPr>
          <p:cNvPr id="4" name="TextBox 3"/>
          <p:cNvSpPr txBox="1"/>
          <p:nvPr/>
        </p:nvSpPr>
        <p:spPr>
          <a:xfrm>
            <a:off x="685800" y="749808"/>
            <a:ext cx="10789920" cy="640080"/>
          </a:xfrm>
          <a:prstGeom prst="rect">
            <a:avLst/>
          </a:prstGeom>
          <a:noFill/>
        </p:spPr>
        <p:txBody>
          <a:bodyPr wrap="square" tIns="0" bIns="0" lIns="0" rIns="0">
            <a:spAutoFit/>
          </a:bodyPr>
          <a:lstStyle/>
          <a:p>
            <a:pPr>
              <a:defRPr sz="2200" b="1">
                <a:solidFill>
                  <a:srgbClr val="0F172A"/>
                </a:solidFill>
                <a:latin typeface="Trebuchet MS"/>
              </a:defRPr>
            </a:pPr>
            <a:r>
              <a:t>Role 1: Customer Portal — Frictionless Retail Journey</a:t>
            </a:r>
          </a:p>
        </p:txBody>
      </p:sp>
      <p:sp>
        <p:nvSpPr>
          <p:cNvPr id="5" name="Rectangle 4"/>
          <p:cNvSpPr/>
          <p:nvPr/>
        </p:nvSpPr>
        <p:spPr>
          <a:xfrm>
            <a:off x="731520" y="1444752"/>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486400" cy="457200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4937760" cy="4114800"/>
          </a:xfrm>
          <a:prstGeom prst="rect">
            <a:avLst/>
          </a:prstGeom>
          <a:noFill/>
        </p:spPr>
        <p:txBody>
          <a:bodyPr wrap="square">
            <a:spAutoFit/>
          </a:bodyPr>
          <a:lstStyle/>
          <a:p>
            <a:pPr>
              <a:defRPr sz="1500" b="1">
                <a:solidFill>
                  <a:srgbClr val="0284C7"/>
                </a:solidFill>
                <a:latin typeface="Trebuchet MS"/>
              </a:defRPr>
            </a:pPr>
            <a:r>
              <a:t>Key Customer Features &amp; Logic</a:t>
            </a:r>
          </a:p>
          <a:p>
            <a:pPr>
              <a:spcBef>
                <a:spcPts val="600"/>
              </a:spcBef>
              <a:defRPr sz="1100" b="1">
                <a:solidFill>
                  <a:srgbClr val="0F172A"/>
                </a:solidFill>
                <a:latin typeface="Calibri"/>
              </a:defRPr>
            </a:pPr>
            <a:r>
              <a:t>• Passwordless OTP Authentication:</a:t>
            </a:r>
          </a:p>
          <a:p>
            <a:pPr>
              <a:spcBef>
                <a:spcPts val="100"/>
              </a:spcBef>
              <a:defRPr sz="1000">
                <a:solidFill>
                  <a:srgbClr val="64748B"/>
                </a:solidFill>
                <a:latin typeface="Calibri"/>
              </a:defRPr>
            </a:pPr>
            <a:r>
              <a:t>   Users register and log in instantly via 10-digit mobile number OTP (`123456` in demo mode or Firebase Phone Auth). No passwords to forget or compromise.</a:t>
            </a:r>
          </a:p>
          <a:p>
            <a:pPr>
              <a:spcBef>
                <a:spcPts val="600"/>
              </a:spcBef>
              <a:defRPr sz="1100" b="1">
                <a:solidFill>
                  <a:srgbClr val="0F172A"/>
                </a:solidFill>
                <a:latin typeface="Calibri"/>
              </a:defRPr>
            </a:pPr>
            <a:r>
              <a:t>• Catalog Browsing with Stock Obfuscation:</a:t>
            </a:r>
          </a:p>
          <a:p>
            <a:pPr>
              <a:spcBef>
                <a:spcPts val="100"/>
              </a:spcBef>
              <a:defRPr sz="1000">
                <a:solidFill>
                  <a:srgbClr val="64748B"/>
                </a:solidFill>
                <a:latin typeface="Calibri"/>
              </a:defRPr>
            </a:pPr>
            <a:r>
              <a:t>   Customers view clear retail prices (`customerPrice`), product specifications, and general availability ('In Stock'), while exact physical stock counts are stripped at the API layer.</a:t>
            </a:r>
          </a:p>
          <a:p>
            <a:pPr>
              <a:spcBef>
                <a:spcPts val="600"/>
              </a:spcBef>
              <a:defRPr sz="1100" b="1">
                <a:solidFill>
                  <a:srgbClr val="0F172A"/>
                </a:solidFill>
                <a:latin typeface="Calibri"/>
              </a:defRPr>
            </a:pPr>
            <a:r>
              <a:t>• Streamlined Checkout &amp; Saved Addresses:</a:t>
            </a:r>
          </a:p>
          <a:p>
            <a:pPr>
              <a:spcBef>
                <a:spcPts val="100"/>
              </a:spcBef>
              <a:defRPr sz="1000">
                <a:solidFill>
                  <a:srgbClr val="64748B"/>
                </a:solidFill>
                <a:latin typeface="Calibri"/>
              </a:defRPr>
            </a:pPr>
            <a:r>
              <a:t>   Supports multiple shipping addresses (Home, Work, Project Site) with default toggles, immediate price calculation, and zero checkout friction.</a:t>
            </a:r>
          </a:p>
          <a:p>
            <a:pPr>
              <a:spcBef>
                <a:spcPts val="600"/>
              </a:spcBef>
              <a:defRPr sz="1100" b="1">
                <a:solidFill>
                  <a:srgbClr val="0F172A"/>
                </a:solidFill>
                <a:latin typeface="Calibri"/>
              </a:defRPr>
            </a:pPr>
            <a:r>
              <a:t>• Instant Payment &amp; Digital Receipts:</a:t>
            </a:r>
          </a:p>
          <a:p>
            <a:pPr>
              <a:spcBef>
                <a:spcPts val="100"/>
              </a:spcBef>
              <a:defRPr sz="1000">
                <a:solidFill>
                  <a:srgbClr val="64748B"/>
                </a:solidFill>
                <a:latin typeface="Calibri"/>
              </a:defRPr>
            </a:pPr>
            <a:r>
              <a:t>   Direct payment processing (Card/UPI/COD simulation) with instant automated HTML invoice receipts dispatched via Nodemailer.</a:t>
            </a:r>
          </a:p>
          <a:p>
            <a:pPr>
              <a:spcBef>
                <a:spcPts val="600"/>
              </a:spcBef>
              <a:defRPr sz="1100" b="1">
                <a:solidFill>
                  <a:srgbClr val="0F172A"/>
                </a:solidFill>
                <a:latin typeface="Calibri"/>
              </a:defRPr>
            </a:pPr>
            <a:r>
              <a:t>• Live Order Timeline Tracking:</a:t>
            </a:r>
          </a:p>
          <a:p>
            <a:pPr>
              <a:spcBef>
                <a:spcPts val="100"/>
              </a:spcBef>
              <a:defRPr sz="1000">
                <a:solidFill>
                  <a:srgbClr val="64748B"/>
                </a:solidFill>
                <a:latin typeface="Calibri"/>
              </a:defRPr>
            </a:pPr>
            <a:r>
              <a:t>   Real-time visual tracking from 'Order Placed' -&gt; 'Processing' -&gt; 'Dispatched' -&gt; 'Delivered', plus historical order archiving.</a:t>
            </a:r>
          </a:p>
        </p:txBody>
      </p:sp>
      <p:sp>
        <p:nvSpPr>
          <p:cNvPr id="8" name="Rounded Rectangle 7"/>
          <p:cNvSpPr/>
          <p:nvPr/>
        </p:nvSpPr>
        <p:spPr>
          <a:xfrm>
            <a:off x="6492240" y="1645920"/>
            <a:ext cx="4937760" cy="4572000"/>
          </a:xfrm>
          <a:prstGeom prst="roundRect">
            <a:avLst/>
          </a:prstGeom>
          <a:solidFill>
            <a:srgbClr val="F0F9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20840" y="1828800"/>
            <a:ext cx="4480560" cy="4114800"/>
          </a:xfrm>
          <a:prstGeom prst="rect">
            <a:avLst/>
          </a:prstGeom>
          <a:noFill/>
        </p:spPr>
        <p:txBody>
          <a:bodyPr wrap="square">
            <a:spAutoFit/>
          </a:bodyPr>
          <a:lstStyle/>
          <a:p>
            <a:pPr>
              <a:defRPr sz="1400" b="1">
                <a:solidFill>
                  <a:srgbClr val="0284C7"/>
                </a:solidFill>
                <a:latin typeface="Trebuchet MS"/>
              </a:defRPr>
            </a:pPr>
            <a:r>
              <a:t>Customer Journey Walkthrough</a:t>
            </a:r>
          </a:p>
          <a:p>
            <a:pPr>
              <a:spcBef>
                <a:spcPts val="800"/>
              </a:spcBef>
              <a:defRPr sz="1100" b="1">
                <a:solidFill>
                  <a:srgbClr val="0284C7"/>
                </a:solidFill>
                <a:latin typeface="Trebuchet MS"/>
              </a:defRPr>
            </a:pPr>
            <a:r>
              <a:t>Step 1: Discover</a:t>
            </a:r>
          </a:p>
          <a:p>
            <a:pPr>
              <a:spcBef>
                <a:spcPts val="200"/>
              </a:spcBef>
              <a:defRPr sz="1000">
                <a:solidFill>
                  <a:srgbClr val="0F172A"/>
                </a:solidFill>
                <a:latin typeface="Calibri"/>
              </a:defRPr>
            </a:pPr>
            <a:r>
              <a:t>Browse pipes, fittings, faucets and bath accessories with high-res technical imagery and specs.</a:t>
            </a:r>
          </a:p>
          <a:p>
            <a:pPr>
              <a:spcBef>
                <a:spcPts val="800"/>
              </a:spcBef>
              <a:defRPr sz="1100" b="1">
                <a:solidFill>
                  <a:srgbClr val="0284C7"/>
                </a:solidFill>
                <a:latin typeface="Trebuchet MS"/>
              </a:defRPr>
            </a:pPr>
            <a:r>
              <a:t>Step 2: Bucket Cart</a:t>
            </a:r>
          </a:p>
          <a:p>
            <a:pPr>
              <a:spcBef>
                <a:spcPts val="200"/>
              </a:spcBef>
              <a:defRPr sz="1000">
                <a:solidFill>
                  <a:srgbClr val="0F172A"/>
                </a:solidFill>
                <a:latin typeface="Calibri"/>
              </a:defRPr>
            </a:pPr>
            <a:r>
              <a:t>Add retail quantities with live subtotal, GST calculation, and free delivery qualifiers.</a:t>
            </a:r>
          </a:p>
          <a:p>
            <a:pPr>
              <a:spcBef>
                <a:spcPts val="800"/>
              </a:spcBef>
              <a:defRPr sz="1100" b="1">
                <a:solidFill>
                  <a:srgbClr val="0284C7"/>
                </a:solidFill>
                <a:latin typeface="Trebuchet MS"/>
              </a:defRPr>
            </a:pPr>
            <a:r>
              <a:t>Step 3: Installation Request</a:t>
            </a:r>
          </a:p>
          <a:p>
            <a:pPr>
              <a:spcBef>
                <a:spcPts val="200"/>
              </a:spcBef>
              <a:defRPr sz="1000">
                <a:solidFill>
                  <a:srgbClr val="0F172A"/>
                </a:solidFill>
                <a:latin typeface="Calibri"/>
              </a:defRPr>
            </a:pPr>
            <a:r>
              <a:t>Optionally check 'Request Plumber Installation' to route an installation ticket to certified local plumbers.</a:t>
            </a:r>
          </a:p>
          <a:p>
            <a:pPr>
              <a:spcBef>
                <a:spcPts val="800"/>
              </a:spcBef>
              <a:defRPr sz="1100" b="1">
                <a:solidFill>
                  <a:srgbClr val="0284C7"/>
                </a:solidFill>
                <a:latin typeface="Trebuchet MS"/>
              </a:defRPr>
            </a:pPr>
            <a:r>
              <a:t>Step 4: Secure Checkout</a:t>
            </a:r>
          </a:p>
          <a:p>
            <a:pPr>
              <a:spcBef>
                <a:spcPts val="200"/>
              </a:spcBef>
              <a:defRPr sz="1000">
                <a:solidFill>
                  <a:srgbClr val="0F172A"/>
                </a:solidFill>
                <a:latin typeface="Calibri"/>
              </a:defRPr>
            </a:pPr>
            <a:r>
              <a:t>Select delivery address and pay upfront via instant digital checkout.</a:t>
            </a:r>
          </a:p>
          <a:p>
            <a:pPr>
              <a:spcBef>
                <a:spcPts val="800"/>
              </a:spcBef>
              <a:defRPr sz="1100" b="1">
                <a:solidFill>
                  <a:srgbClr val="0284C7"/>
                </a:solidFill>
                <a:latin typeface="Trebuchet MS"/>
              </a:defRPr>
            </a:pPr>
            <a:r>
              <a:t>Step 5: Live Timeline</a:t>
            </a:r>
          </a:p>
          <a:p>
            <a:pPr>
              <a:spcBef>
                <a:spcPts val="200"/>
              </a:spcBef>
              <a:defRPr sz="1000">
                <a:solidFill>
                  <a:srgbClr val="0F172A"/>
                </a:solidFill>
                <a:latin typeface="Calibri"/>
              </a:defRPr>
            </a:pPr>
            <a:r>
              <a:t>Track fulfillment progress in real time with dynamic in-app notification toasts.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9184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50" b="1">
                <a:solidFill>
                  <a:srgbClr val="0284C7"/>
                </a:solidFill>
                <a:latin typeface="Trebuchet MS"/>
              </a:defRPr>
            </a:pPr>
            <a:r>
              <a:t>B2B WHOLESALE</a:t>
            </a:r>
          </a:p>
        </p:txBody>
      </p:sp>
      <p:sp>
        <p:nvSpPr>
          <p:cNvPr id="4" name="TextBox 3"/>
          <p:cNvSpPr txBox="1"/>
          <p:nvPr/>
        </p:nvSpPr>
        <p:spPr>
          <a:xfrm>
            <a:off x="685800" y="749808"/>
            <a:ext cx="10789920" cy="640080"/>
          </a:xfrm>
          <a:prstGeom prst="rect">
            <a:avLst/>
          </a:prstGeom>
          <a:noFill/>
        </p:spPr>
        <p:txBody>
          <a:bodyPr wrap="square" tIns="0" bIns="0" lIns="0" rIns="0">
            <a:spAutoFit/>
          </a:bodyPr>
          <a:lstStyle/>
          <a:p>
            <a:pPr>
              <a:defRPr sz="2200" b="1">
                <a:solidFill>
                  <a:srgbClr val="0F172A"/>
                </a:solidFill>
                <a:latin typeface="Trebuchet MS"/>
              </a:defRPr>
            </a:pPr>
            <a:r>
              <a:t>Role 2: Wholesale Dealer Portal — Zoho Verified &amp; Credit Governance</a:t>
            </a:r>
          </a:p>
        </p:txBody>
      </p:sp>
      <p:sp>
        <p:nvSpPr>
          <p:cNvPr id="5" name="Rectangle 4"/>
          <p:cNvSpPr/>
          <p:nvPr/>
        </p:nvSpPr>
        <p:spPr>
          <a:xfrm>
            <a:off x="731520" y="1444752"/>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486400" cy="4572000"/>
          </a:xfrm>
          <a:prstGeom prst="round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4937760" cy="4114800"/>
          </a:xfrm>
          <a:prstGeom prst="rect">
            <a:avLst/>
          </a:prstGeom>
          <a:noFill/>
        </p:spPr>
        <p:txBody>
          <a:bodyPr wrap="square">
            <a:spAutoFit/>
          </a:bodyPr>
          <a:lstStyle/>
          <a:p>
            <a:pPr>
              <a:defRPr sz="1500" b="1">
                <a:solidFill>
                  <a:srgbClr val="F59E0B"/>
                </a:solidFill>
                <a:latin typeface="Trebuchet MS"/>
              </a:defRPr>
            </a:pPr>
            <a:r>
              <a:t>Wholesale Dealer Capabilities</a:t>
            </a:r>
          </a:p>
          <a:p>
            <a:pPr>
              <a:spcBef>
                <a:spcPts val="600"/>
              </a:spcBef>
              <a:defRPr sz="1100" b="1">
                <a:solidFill>
                  <a:srgbClr val="0F172A"/>
                </a:solidFill>
                <a:latin typeface="Calibri"/>
              </a:defRPr>
            </a:pPr>
            <a:r>
              <a:t>• Zoho CRM Gatekeeper Authentication:</a:t>
            </a:r>
          </a:p>
          <a:p>
            <a:pPr>
              <a:spcBef>
                <a:spcPts val="100"/>
              </a:spcBef>
              <a:defRPr sz="1000">
                <a:solidFill>
                  <a:srgbClr val="64748B"/>
                </a:solidFill>
                <a:latin typeface="Calibri"/>
              </a:defRPr>
            </a:pPr>
            <a:r>
              <a:t>   Dealers cannot self-onboard and transact immediately. The API verifies their mobile number against Zoho CRM records. Unverified dealers (e.g. 9000033333) are locked out.</a:t>
            </a:r>
          </a:p>
          <a:p>
            <a:pPr>
              <a:spcBef>
                <a:spcPts val="600"/>
              </a:spcBef>
              <a:defRPr sz="1100" b="1">
                <a:solidFill>
                  <a:srgbClr val="0F172A"/>
                </a:solidFill>
                <a:latin typeface="Calibri"/>
              </a:defRPr>
            </a:pPr>
            <a:r>
              <a:t>• Transparent Stock &amp; Wholesale Pricing:</a:t>
            </a:r>
          </a:p>
          <a:p>
            <a:pPr>
              <a:spcBef>
                <a:spcPts val="100"/>
              </a:spcBef>
              <a:defRPr sz="1000">
                <a:solidFill>
                  <a:srgbClr val="64748B"/>
                </a:solidFill>
                <a:latin typeface="Calibri"/>
              </a:defRPr>
            </a:pPr>
            <a:r>
              <a:t>   Unlike retail customers, verified dealers see discounted wholesale rates (`dealerPrice`), live warehouse quantities (`stockQuantity`), and Minimum Order Quantities (MOQ).</a:t>
            </a:r>
          </a:p>
          <a:p>
            <a:pPr>
              <a:spcBef>
                <a:spcPts val="600"/>
              </a:spcBef>
              <a:defRPr sz="1100" b="1">
                <a:solidFill>
                  <a:srgbClr val="0F172A"/>
                </a:solidFill>
                <a:latin typeface="Calibri"/>
              </a:defRPr>
            </a:pPr>
            <a:r>
              <a:t>• MOQ Enforcement Engine:</a:t>
            </a:r>
          </a:p>
          <a:p>
            <a:pPr>
              <a:spcBef>
                <a:spcPts val="100"/>
              </a:spcBef>
              <a:defRPr sz="1000">
                <a:solidFill>
                  <a:srgbClr val="64748B"/>
                </a:solidFill>
                <a:latin typeface="Calibri"/>
              </a:defRPr>
            </a:pPr>
            <a:r>
              <a:t>   Cart dynamically enforces minimum order quantities per item, preventing unauthorized retail fragmentation of bulk packaging.</a:t>
            </a:r>
          </a:p>
          <a:p>
            <a:pPr>
              <a:spcBef>
                <a:spcPts val="600"/>
              </a:spcBef>
              <a:defRPr sz="1100" b="1">
                <a:solidFill>
                  <a:srgbClr val="0F172A"/>
                </a:solidFill>
                <a:latin typeface="Calibri"/>
              </a:defRPr>
            </a:pPr>
            <a:r>
              <a:t>• Post-Dated Credit Checkout (30/90 Days):</a:t>
            </a:r>
          </a:p>
          <a:p>
            <a:pPr>
              <a:spcBef>
                <a:spcPts val="100"/>
              </a:spcBef>
              <a:defRPr sz="1000">
                <a:solidFill>
                  <a:srgbClr val="64748B"/>
                </a:solidFill>
                <a:latin typeface="Calibri"/>
              </a:defRPr>
            </a:pPr>
            <a:r>
              <a:t>   Eligible dealers can complete orders on credit without upfront payment. The system computes credit maturity dates and monitors limits.</a:t>
            </a:r>
          </a:p>
          <a:p>
            <a:pPr>
              <a:spcBef>
                <a:spcPts val="600"/>
              </a:spcBef>
              <a:defRPr sz="1100" b="1">
                <a:solidFill>
                  <a:srgbClr val="0F172A"/>
                </a:solidFill>
                <a:latin typeface="Calibri"/>
              </a:defRPr>
            </a:pPr>
            <a:r>
              <a:t>• Appeal &amp; Support Modals:</a:t>
            </a:r>
          </a:p>
          <a:p>
            <a:pPr>
              <a:spcBef>
                <a:spcPts val="100"/>
              </a:spcBef>
              <a:defRPr sz="1000">
                <a:solidFill>
                  <a:srgbClr val="64748B"/>
                </a:solidFill>
                <a:latin typeface="Calibri"/>
              </a:defRPr>
            </a:pPr>
            <a:r>
              <a:t>   Suspended or pending dealers can submit direct appeals to administrators with automated email dispatch to `support@plumbmart.com`.</a:t>
            </a:r>
          </a:p>
        </p:txBody>
      </p:sp>
      <p:sp>
        <p:nvSpPr>
          <p:cNvPr id="8" name="Rounded Rectangle 7"/>
          <p:cNvSpPr/>
          <p:nvPr/>
        </p:nvSpPr>
        <p:spPr>
          <a:xfrm>
            <a:off x="6492240" y="1645920"/>
            <a:ext cx="4937760" cy="4572000"/>
          </a:xfrm>
          <a:prstGeom prst="roundRect">
            <a:avLst/>
          </a:prstGeom>
          <a:solidFill>
            <a:srgbClr val="FFFBE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20840" y="1828800"/>
            <a:ext cx="4480560" cy="4114800"/>
          </a:xfrm>
          <a:prstGeom prst="rect">
            <a:avLst/>
          </a:prstGeom>
          <a:noFill/>
        </p:spPr>
        <p:txBody>
          <a:bodyPr wrap="square">
            <a:spAutoFit/>
          </a:bodyPr>
          <a:lstStyle/>
          <a:p>
            <a:pPr>
              <a:defRPr sz="1400" b="1">
                <a:solidFill>
                  <a:srgbClr val="F59E0B"/>
                </a:solidFill>
                <a:latin typeface="Trebuchet MS"/>
              </a:defRPr>
            </a:pPr>
            <a:r>
              <a:t>Dealer Verification &amp; Credit Tiers</a:t>
            </a:r>
          </a:p>
          <a:p>
            <a:pPr>
              <a:spcBef>
                <a:spcPts val="1000"/>
              </a:spcBef>
              <a:defRPr sz="1100" b="1">
                <a:solidFill>
                  <a:srgbClr val="F59E0B"/>
                </a:solidFill>
                <a:latin typeface="Trebuchet MS"/>
              </a:defRPr>
            </a:pPr>
            <a:r>
              <a:t>Tier A: 90-Day Credit Approved</a:t>
            </a:r>
          </a:p>
          <a:p>
            <a:pPr>
              <a:spcBef>
                <a:spcPts val="200"/>
              </a:spcBef>
              <a:defRPr sz="950">
                <a:solidFill>
                  <a:srgbClr val="0F172A"/>
                </a:solidFill>
                <a:latin typeface="Calibri"/>
              </a:defRPr>
            </a:pPr>
            <a:r>
              <a:t>Account: 9000011111 (Sri Venkateswara Dist.)</a:t>
            </a:r>
            <a:br/>
            <a:r>
              <a:t>• Zoho Verified: TRUE</a:t>
            </a:r>
            <a:br/>
            <a:r>
              <a:t>• Available Credit: Rs 5,00,000</a:t>
            </a:r>
            <a:br/>
            <a:r>
              <a:t>• Payment Options: Upfront + 30-Day + 90-Day Credit unlocked</a:t>
            </a:r>
          </a:p>
          <a:p>
            <a:pPr>
              <a:spcBef>
                <a:spcPts val="1000"/>
              </a:spcBef>
              <a:defRPr sz="1100" b="1">
                <a:solidFill>
                  <a:srgbClr val="F59E0B"/>
                </a:solidFill>
                <a:latin typeface="Trebuchet MS"/>
              </a:defRPr>
            </a:pPr>
            <a:r>
              <a:t>Tier B: 30-Day Credit Only</a:t>
            </a:r>
          </a:p>
          <a:p>
            <a:pPr>
              <a:spcBef>
                <a:spcPts val="200"/>
              </a:spcBef>
              <a:defRPr sz="950">
                <a:solidFill>
                  <a:srgbClr val="0F172A"/>
                </a:solidFill>
                <a:latin typeface="Calibri"/>
              </a:defRPr>
            </a:pPr>
            <a:r>
              <a:t>Account: 9000022222 (Metro Pipe Syndicate)</a:t>
            </a:r>
            <a:br/>
            <a:r>
              <a:t>• Zoho Verified: TRUE</a:t>
            </a:r>
            <a:br/>
            <a:r>
              <a:t>• Available Credit: Rs 1,50,000</a:t>
            </a:r>
            <a:br/>
            <a:r>
              <a:t>• Payment Options: Upfront + 30-Day Credit (90-Day locked)</a:t>
            </a:r>
          </a:p>
          <a:p>
            <a:pPr>
              <a:spcBef>
                <a:spcPts val="1000"/>
              </a:spcBef>
              <a:defRPr sz="1100" b="1">
                <a:solidFill>
                  <a:srgbClr val="F59E0B"/>
                </a:solidFill>
                <a:latin typeface="Trebuchet MS"/>
              </a:defRPr>
            </a:pPr>
            <a:r>
              <a:t>Tier C: Unverified / Pending Account</a:t>
            </a:r>
          </a:p>
          <a:p>
            <a:pPr>
              <a:spcBef>
                <a:spcPts val="200"/>
              </a:spcBef>
              <a:defRPr sz="950">
                <a:solidFill>
                  <a:srgbClr val="0F172A"/>
                </a:solidFill>
                <a:latin typeface="Calibri"/>
              </a:defRPr>
            </a:pPr>
            <a:r>
              <a:t>Account: 9000033333 (Coastal Builders Mart)</a:t>
            </a:r>
            <a:br/>
            <a:r>
              <a:t>• Zoho Verified: FALSE</a:t>
            </a:r>
            <a:br/>
            <a:r>
              <a:t>• Status: Blocked at OTP login with appeal prompt</a:t>
            </a:r>
            <a:br/>
            <a:r>
              <a:t>• Requires Admin CRM verification to unlock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9184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50" b="1">
                <a:solidFill>
                  <a:srgbClr val="0284C7"/>
                </a:solidFill>
                <a:latin typeface="Trebuchet MS"/>
              </a:defRPr>
            </a:pPr>
            <a:r>
              <a:t>FIELD OPERATIONS</a:t>
            </a:r>
          </a:p>
        </p:txBody>
      </p:sp>
      <p:sp>
        <p:nvSpPr>
          <p:cNvPr id="4" name="TextBox 3"/>
          <p:cNvSpPr txBox="1"/>
          <p:nvPr/>
        </p:nvSpPr>
        <p:spPr>
          <a:xfrm>
            <a:off x="685800" y="749808"/>
            <a:ext cx="10789920" cy="640080"/>
          </a:xfrm>
          <a:prstGeom prst="rect">
            <a:avLst/>
          </a:prstGeom>
          <a:noFill/>
        </p:spPr>
        <p:txBody>
          <a:bodyPr wrap="square" tIns="0" bIns="0" lIns="0" rIns="0">
            <a:spAutoFit/>
          </a:bodyPr>
          <a:lstStyle/>
          <a:p>
            <a:pPr>
              <a:defRPr sz="2200" b="1">
                <a:solidFill>
                  <a:srgbClr val="0F172A"/>
                </a:solidFill>
                <a:latin typeface="Trebuchet MS"/>
              </a:defRPr>
            </a:pPr>
            <a:r>
              <a:t>Role 3: Plumber Dashboard — Field Activity &amp; Loyalty Ledger</a:t>
            </a:r>
          </a:p>
        </p:txBody>
      </p:sp>
      <p:sp>
        <p:nvSpPr>
          <p:cNvPr id="5" name="Rectangle 4"/>
          <p:cNvSpPr/>
          <p:nvPr/>
        </p:nvSpPr>
        <p:spPr>
          <a:xfrm>
            <a:off x="731520" y="1444752"/>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486400" cy="4572000"/>
          </a:xfrm>
          <a:prstGeom prst="roundRect">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4937760" cy="4114800"/>
          </a:xfrm>
          <a:prstGeom prst="rect">
            <a:avLst/>
          </a:prstGeom>
          <a:noFill/>
        </p:spPr>
        <p:txBody>
          <a:bodyPr wrap="square">
            <a:spAutoFit/>
          </a:bodyPr>
          <a:lstStyle/>
          <a:p>
            <a:pPr>
              <a:defRPr sz="1500" b="1">
                <a:solidFill>
                  <a:srgbClr val="10B981"/>
                </a:solidFill>
                <a:latin typeface="Trebuchet MS"/>
              </a:defRPr>
            </a:pPr>
            <a:r>
              <a:t>Plumber Partner Ecosystem</a:t>
            </a:r>
          </a:p>
          <a:p>
            <a:pPr>
              <a:spcBef>
                <a:spcPts val="600"/>
              </a:spcBef>
              <a:defRPr sz="1100" b="1">
                <a:solidFill>
                  <a:srgbClr val="0F172A"/>
                </a:solidFill>
                <a:latin typeface="Calibri"/>
              </a:defRPr>
            </a:pPr>
            <a:r>
              <a:t>• Trade License &amp; KYC Verification:</a:t>
            </a:r>
          </a:p>
          <a:p>
            <a:pPr>
              <a:spcBef>
                <a:spcPts val="100"/>
              </a:spcBef>
              <a:defRPr sz="1000">
                <a:solidFill>
                  <a:srgbClr val="64748B"/>
                </a:solidFill>
                <a:latin typeface="Calibri"/>
              </a:defRPr>
            </a:pPr>
            <a:r>
              <a:t>   Plumbers maintain verified status (e.g. Ramesh Babu, PLB-01). KYC badges assure customers of verified technical competency.</a:t>
            </a:r>
          </a:p>
          <a:p>
            <a:pPr>
              <a:spcBef>
                <a:spcPts val="600"/>
              </a:spcBef>
              <a:defRPr sz="1100" b="1">
                <a:solidFill>
                  <a:srgbClr val="0F172A"/>
                </a:solidFill>
                <a:latin typeface="Calibri"/>
              </a:defRPr>
            </a:pPr>
            <a:r>
              <a:t>• Activity Pipeline State Machine:</a:t>
            </a:r>
          </a:p>
          <a:p>
            <a:pPr>
              <a:spcBef>
                <a:spcPts val="100"/>
              </a:spcBef>
              <a:defRPr sz="1000">
                <a:solidFill>
                  <a:srgbClr val="64748B"/>
                </a:solidFill>
                <a:latin typeface="Calibri"/>
              </a:defRPr>
            </a:pPr>
            <a:r>
              <a:t>   Assigned installation requests follow strict state transitions: ASSIGNED -&gt; ACCEPTED -&gt; IN_PROGRESS -&gt; COMPLETED, keeping customers and dispatch updated.</a:t>
            </a:r>
          </a:p>
          <a:p>
            <a:pPr>
              <a:spcBef>
                <a:spcPts val="600"/>
              </a:spcBef>
              <a:defRPr sz="1100" b="1">
                <a:solidFill>
                  <a:srgbClr val="0F172A"/>
                </a:solidFill>
                <a:latin typeface="Calibri"/>
              </a:defRPr>
            </a:pPr>
            <a:r>
              <a:t>• Technical Product Catalog &amp; Schematics:</a:t>
            </a:r>
          </a:p>
          <a:p>
            <a:pPr>
              <a:spcBef>
                <a:spcPts val="100"/>
              </a:spcBef>
              <a:defRPr sz="1000">
                <a:solidFill>
                  <a:srgbClr val="64748B"/>
                </a:solidFill>
                <a:latin typeface="Calibri"/>
              </a:defRPr>
            </a:pPr>
            <a:r>
              <a:t>   Field technicians view complete installation guidelines, pipe diameter charts, pressure ratings, and manufacturer schematics.</a:t>
            </a:r>
          </a:p>
          <a:p>
            <a:pPr>
              <a:spcBef>
                <a:spcPts val="600"/>
              </a:spcBef>
              <a:defRPr sz="1100" b="1">
                <a:solidFill>
                  <a:srgbClr val="0F172A"/>
                </a:solidFill>
                <a:latin typeface="Calibri"/>
              </a:defRPr>
            </a:pPr>
            <a:r>
              <a:t>• Gamified Loyalty &amp; Reward Points:</a:t>
            </a:r>
          </a:p>
          <a:p>
            <a:pPr>
              <a:spcBef>
                <a:spcPts val="100"/>
              </a:spcBef>
              <a:defRPr sz="1000">
                <a:solidFill>
                  <a:srgbClr val="64748B"/>
                </a:solidFill>
                <a:latin typeface="Calibri"/>
              </a:defRPr>
            </a:pPr>
            <a:r>
              <a:t>   Every verified installation awards loyalty points redeemable for tools and cash incentives, driving platform adoption.</a:t>
            </a:r>
          </a:p>
          <a:p>
            <a:pPr>
              <a:spcBef>
                <a:spcPts val="600"/>
              </a:spcBef>
              <a:defRPr sz="1100" b="1">
                <a:solidFill>
                  <a:srgbClr val="0F172A"/>
                </a:solidFill>
                <a:latin typeface="Calibri"/>
              </a:defRPr>
            </a:pPr>
            <a:r>
              <a:t>• In-App Notification Dispatch:</a:t>
            </a:r>
          </a:p>
          <a:p>
            <a:pPr>
              <a:spcBef>
                <a:spcPts val="100"/>
              </a:spcBef>
              <a:defRPr sz="1000">
                <a:solidFill>
                  <a:srgbClr val="64748B"/>
                </a:solidFill>
                <a:latin typeface="Calibri"/>
              </a:defRPr>
            </a:pPr>
            <a:r>
              <a:t>   Instant push/toast alerts for newly assigned tickets, customer schedule changes, and point accruals.</a:t>
            </a:r>
          </a:p>
        </p:txBody>
      </p:sp>
      <p:sp>
        <p:nvSpPr>
          <p:cNvPr id="8" name="Rounded Rectangle 7"/>
          <p:cNvSpPr/>
          <p:nvPr/>
        </p:nvSpPr>
        <p:spPr>
          <a:xfrm>
            <a:off x="6492240" y="1645920"/>
            <a:ext cx="4937760" cy="4572000"/>
          </a:xfrm>
          <a:prstGeom prst="roundRect">
            <a:avLst/>
          </a:prstGeom>
          <a:solidFill>
            <a:srgbClr val="ECFDF5"/>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20840" y="1828800"/>
            <a:ext cx="4480560" cy="4114800"/>
          </a:xfrm>
          <a:prstGeom prst="rect">
            <a:avLst/>
          </a:prstGeom>
          <a:noFill/>
        </p:spPr>
        <p:txBody>
          <a:bodyPr wrap="square">
            <a:spAutoFit/>
          </a:bodyPr>
          <a:lstStyle/>
          <a:p>
            <a:pPr>
              <a:defRPr sz="1400" b="1">
                <a:solidFill>
                  <a:srgbClr val="10B981"/>
                </a:solidFill>
                <a:latin typeface="Trebuchet MS"/>
              </a:defRPr>
            </a:pPr>
            <a:r>
              <a:t>Field Activity Lifecycle</a:t>
            </a:r>
          </a:p>
          <a:p>
            <a:pPr>
              <a:spcBef>
                <a:spcPts val="800"/>
              </a:spcBef>
              <a:defRPr sz="1100" b="1">
                <a:solidFill>
                  <a:srgbClr val="10B981"/>
                </a:solidFill>
                <a:latin typeface="Trebuchet MS"/>
              </a:defRPr>
            </a:pPr>
            <a:r>
              <a:t>1. Assigned State</a:t>
            </a:r>
          </a:p>
          <a:p>
            <a:pPr>
              <a:spcBef>
                <a:spcPts val="200"/>
              </a:spcBef>
              <a:defRPr sz="1000">
                <a:solidFill>
                  <a:srgbClr val="0F172A"/>
                </a:solidFill>
                <a:latin typeface="Calibri"/>
              </a:defRPr>
            </a:pPr>
            <a:r>
              <a:t>Customer books installation with bathroom faucet order. Ticket automatically mapped to nearest verified plumber.</a:t>
            </a:r>
          </a:p>
          <a:p>
            <a:pPr>
              <a:spcBef>
                <a:spcPts val="800"/>
              </a:spcBef>
              <a:defRPr sz="1100" b="1">
                <a:solidFill>
                  <a:srgbClr val="10B981"/>
                </a:solidFill>
                <a:latin typeface="Trebuchet MS"/>
              </a:defRPr>
            </a:pPr>
            <a:r>
              <a:t>2. Accepted State</a:t>
            </a:r>
          </a:p>
          <a:p>
            <a:pPr>
              <a:spcBef>
                <a:spcPts val="200"/>
              </a:spcBef>
              <a:defRPr sz="1000">
                <a:solidFill>
                  <a:srgbClr val="0F172A"/>
                </a:solidFill>
                <a:latin typeface="Calibri"/>
              </a:defRPr>
            </a:pPr>
            <a:r>
              <a:t>Plumber reviews job scope, location, and technical parts list, then officially accepts ticket.</a:t>
            </a:r>
          </a:p>
          <a:p>
            <a:pPr>
              <a:spcBef>
                <a:spcPts val="800"/>
              </a:spcBef>
              <a:defRPr sz="1100" b="1">
                <a:solidFill>
                  <a:srgbClr val="10B981"/>
                </a:solidFill>
                <a:latin typeface="Trebuchet MS"/>
              </a:defRPr>
            </a:pPr>
            <a:r>
              <a:t>3. In-Progress State</a:t>
            </a:r>
          </a:p>
          <a:p>
            <a:pPr>
              <a:spcBef>
                <a:spcPts val="200"/>
              </a:spcBef>
              <a:defRPr sz="1000">
                <a:solidFill>
                  <a:srgbClr val="0F172A"/>
                </a:solidFill>
                <a:latin typeface="Calibri"/>
              </a:defRPr>
            </a:pPr>
            <a:r>
              <a:t>Technician arrives on-site, executes plumbing installation using built-in technical specs.</a:t>
            </a:r>
          </a:p>
          <a:p>
            <a:pPr>
              <a:spcBef>
                <a:spcPts val="800"/>
              </a:spcBef>
              <a:defRPr sz="1100" b="1">
                <a:solidFill>
                  <a:srgbClr val="10B981"/>
                </a:solidFill>
                <a:latin typeface="Trebuchet MS"/>
              </a:defRPr>
            </a:pPr>
            <a:r>
              <a:t>4. Completed &amp; Verified</a:t>
            </a:r>
          </a:p>
          <a:p>
            <a:pPr>
              <a:spcBef>
                <a:spcPts val="200"/>
              </a:spcBef>
              <a:defRPr sz="1000">
                <a:solidFill>
                  <a:srgbClr val="0F172A"/>
                </a:solidFill>
                <a:latin typeface="Calibri"/>
              </a:defRPr>
            </a:pPr>
            <a:r>
              <a:t>Customer signs off, order status updates, and plumber account is credited with reward points.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9184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50" b="1">
                <a:solidFill>
                  <a:srgbClr val="0284C7"/>
                </a:solidFill>
                <a:latin typeface="Trebuchet MS"/>
              </a:defRPr>
            </a:pPr>
            <a:r>
              <a:t>BACK-OFFICE OPERATIONS</a:t>
            </a:r>
          </a:p>
        </p:txBody>
      </p:sp>
      <p:sp>
        <p:nvSpPr>
          <p:cNvPr id="4" name="TextBox 3"/>
          <p:cNvSpPr txBox="1"/>
          <p:nvPr/>
        </p:nvSpPr>
        <p:spPr>
          <a:xfrm>
            <a:off x="685800" y="749808"/>
            <a:ext cx="10789920" cy="640080"/>
          </a:xfrm>
          <a:prstGeom prst="rect">
            <a:avLst/>
          </a:prstGeom>
          <a:noFill/>
        </p:spPr>
        <p:txBody>
          <a:bodyPr wrap="square" tIns="0" bIns="0" lIns="0" rIns="0">
            <a:spAutoFit/>
          </a:bodyPr>
          <a:lstStyle/>
          <a:p>
            <a:pPr>
              <a:defRPr sz="2200" b="1">
                <a:solidFill>
                  <a:srgbClr val="0F172A"/>
                </a:solidFill>
                <a:latin typeface="Trebuchet MS"/>
              </a:defRPr>
            </a:pPr>
            <a:r>
              <a:t>Role 4: Admin Control Tower — Operational Governance &amp; ERP Cockpit</a:t>
            </a:r>
          </a:p>
        </p:txBody>
      </p:sp>
      <p:sp>
        <p:nvSpPr>
          <p:cNvPr id="5" name="Rectangle 4"/>
          <p:cNvSpPr/>
          <p:nvPr/>
        </p:nvSpPr>
        <p:spPr>
          <a:xfrm>
            <a:off x="731520" y="1444752"/>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83280" cy="214884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3383280"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3108960" cy="1828800"/>
          </a:xfrm>
          <a:prstGeom prst="rect">
            <a:avLst/>
          </a:prstGeom>
          <a:noFill/>
        </p:spPr>
        <p:txBody>
          <a:bodyPr wrap="square">
            <a:spAutoFit/>
          </a:bodyPr>
          <a:lstStyle/>
          <a:p>
            <a:pPr>
              <a:defRPr sz="1200" b="1">
                <a:solidFill>
                  <a:srgbClr val="0284C7"/>
                </a:solidFill>
                <a:latin typeface="Trebuchet MS"/>
              </a:defRPr>
            </a:pPr>
            <a:r>
              <a:t>Zoho Synchronisation Command</a:t>
            </a:r>
          </a:p>
          <a:p>
            <a:pPr>
              <a:spcBef>
                <a:spcPts val="400"/>
              </a:spcBef>
              <a:defRPr sz="1000">
                <a:solidFill>
                  <a:srgbClr val="64748B"/>
                </a:solidFill>
                <a:latin typeface="Calibri"/>
              </a:defRPr>
            </a:pPr>
            <a:r>
              <a:t>Initiate manual or scheduled inventory sync, inspect OAuth token expiration, monitor organization ID, and review item sync logs.</a:t>
            </a:r>
          </a:p>
        </p:txBody>
      </p:sp>
      <p:sp>
        <p:nvSpPr>
          <p:cNvPr id="9" name="Rounded Rectangle 8"/>
          <p:cNvSpPr/>
          <p:nvPr/>
        </p:nvSpPr>
        <p:spPr>
          <a:xfrm>
            <a:off x="4398264" y="1645920"/>
            <a:ext cx="3383280" cy="2148840"/>
          </a:xfrm>
          <a:prstGeom prst="round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98264" y="1645920"/>
            <a:ext cx="338328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35424" y="1783080"/>
            <a:ext cx="3108960" cy="1828800"/>
          </a:xfrm>
          <a:prstGeom prst="rect">
            <a:avLst/>
          </a:prstGeom>
          <a:noFill/>
        </p:spPr>
        <p:txBody>
          <a:bodyPr wrap="square">
            <a:spAutoFit/>
          </a:bodyPr>
          <a:lstStyle/>
          <a:p>
            <a:pPr>
              <a:defRPr sz="1200" b="1">
                <a:solidFill>
                  <a:srgbClr val="F59E0B"/>
                </a:solidFill>
                <a:latin typeface="Trebuchet MS"/>
              </a:defRPr>
            </a:pPr>
            <a:r>
              <a:t>Dealer Verification &amp; Credit Approvals</a:t>
            </a:r>
          </a:p>
          <a:p>
            <a:pPr>
              <a:spcBef>
                <a:spcPts val="400"/>
              </a:spcBef>
              <a:defRPr sz="1000">
                <a:solidFill>
                  <a:srgbClr val="64748B"/>
                </a:solidFill>
                <a:latin typeface="Calibri"/>
              </a:defRPr>
            </a:pPr>
            <a:r>
              <a:t>Single-click toggle for Zoho verification status, unlock 30-Day and 90-Day credit privileges, and adjust credit limits dynamically.</a:t>
            </a:r>
          </a:p>
        </p:txBody>
      </p:sp>
      <p:sp>
        <p:nvSpPr>
          <p:cNvPr id="12" name="Rounded Rectangle 11"/>
          <p:cNvSpPr/>
          <p:nvPr/>
        </p:nvSpPr>
        <p:spPr>
          <a:xfrm>
            <a:off x="8065008" y="1645920"/>
            <a:ext cx="3383280" cy="2148840"/>
          </a:xfrm>
          <a:prstGeom prst="roundRect">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65008" y="1645920"/>
            <a:ext cx="338328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2168" y="1783080"/>
            <a:ext cx="3108960" cy="1828800"/>
          </a:xfrm>
          <a:prstGeom prst="rect">
            <a:avLst/>
          </a:prstGeom>
          <a:noFill/>
        </p:spPr>
        <p:txBody>
          <a:bodyPr wrap="square">
            <a:spAutoFit/>
          </a:bodyPr>
          <a:lstStyle/>
          <a:p>
            <a:pPr>
              <a:defRPr sz="1200" b="1">
                <a:solidFill>
                  <a:srgbClr val="10B981"/>
                </a:solidFill>
                <a:latin typeface="Trebuchet MS"/>
              </a:defRPr>
            </a:pPr>
            <a:r>
              <a:t>Order Lifecycle Governance</a:t>
            </a:r>
          </a:p>
          <a:p>
            <a:pPr>
              <a:spcBef>
                <a:spcPts val="400"/>
              </a:spcBef>
              <a:defRPr sz="1000">
                <a:solidFill>
                  <a:srgbClr val="64748B"/>
                </a:solidFill>
                <a:latin typeface="Calibri"/>
              </a:defRPr>
            </a:pPr>
            <a:r>
              <a:t>Oversee complete B2B wholesale and B2C retail orders, update tracking statuses, inspect payment modes, and view transaction receipts.</a:t>
            </a:r>
          </a:p>
        </p:txBody>
      </p:sp>
      <p:sp>
        <p:nvSpPr>
          <p:cNvPr id="15" name="Rounded Rectangle 14"/>
          <p:cNvSpPr/>
          <p:nvPr/>
        </p:nvSpPr>
        <p:spPr>
          <a:xfrm>
            <a:off x="731520" y="4069080"/>
            <a:ext cx="3383280" cy="2148840"/>
          </a:xfrm>
          <a:prstGeom prst="roundRect">
            <a:avLst/>
          </a:prstGeom>
          <a:solidFill>
            <a:srgbClr val="FFFFFF"/>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069080"/>
            <a:ext cx="3383280" cy="5486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206240"/>
            <a:ext cx="3108960" cy="1828800"/>
          </a:xfrm>
          <a:prstGeom prst="rect">
            <a:avLst/>
          </a:prstGeom>
          <a:noFill/>
        </p:spPr>
        <p:txBody>
          <a:bodyPr wrap="square">
            <a:spAutoFit/>
          </a:bodyPr>
          <a:lstStyle/>
          <a:p>
            <a:pPr>
              <a:defRPr sz="1200" b="1">
                <a:solidFill>
                  <a:srgbClr val="6366F1"/>
                </a:solidFill>
                <a:latin typeface="Trebuchet MS"/>
              </a:defRPr>
            </a:pPr>
            <a:r>
              <a:t>Plumber KYC &amp; Activity Auditing</a:t>
            </a:r>
          </a:p>
          <a:p>
            <a:pPr>
              <a:spcBef>
                <a:spcPts val="400"/>
              </a:spcBef>
              <a:defRPr sz="1000">
                <a:solidFill>
                  <a:srgbClr val="64748B"/>
                </a:solidFill>
                <a:latin typeface="Calibri"/>
              </a:defRPr>
            </a:pPr>
            <a:r>
              <a:t>Review plumber licenses, approve new technicians, monitor open activity queues, and resolve customer installation tickets.</a:t>
            </a:r>
          </a:p>
        </p:txBody>
      </p:sp>
      <p:sp>
        <p:nvSpPr>
          <p:cNvPr id="18" name="Rounded Rectangle 17"/>
          <p:cNvSpPr/>
          <p:nvPr/>
        </p:nvSpPr>
        <p:spPr>
          <a:xfrm>
            <a:off x="4398264" y="4069080"/>
            <a:ext cx="3383280" cy="2148840"/>
          </a:xfrm>
          <a:prstGeom prst="roundRect">
            <a:avLst/>
          </a:prstGeom>
          <a:solidFill>
            <a:srgbClr val="FFFFFF"/>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98264" y="4069080"/>
            <a:ext cx="3383280"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35424" y="4206240"/>
            <a:ext cx="3108960" cy="1828800"/>
          </a:xfrm>
          <a:prstGeom prst="rect">
            <a:avLst/>
          </a:prstGeom>
          <a:noFill/>
        </p:spPr>
        <p:txBody>
          <a:bodyPr wrap="square">
            <a:spAutoFit/>
          </a:bodyPr>
          <a:lstStyle/>
          <a:p>
            <a:pPr>
              <a:defRPr sz="1200" b="1">
                <a:solidFill>
                  <a:srgbClr val="EF4444"/>
                </a:solidFill>
                <a:latin typeface="Trebuchet MS"/>
              </a:defRPr>
            </a:pPr>
            <a:r>
              <a:t>Transactional Email &amp; Security Logs</a:t>
            </a:r>
          </a:p>
          <a:p>
            <a:pPr>
              <a:spcBef>
                <a:spcPts val="400"/>
              </a:spcBef>
              <a:defRPr sz="1000">
                <a:solidFill>
                  <a:srgbClr val="64748B"/>
                </a:solidFill>
                <a:latin typeface="Calibri"/>
              </a:defRPr>
            </a:pPr>
            <a:r>
              <a:t>Audit outbound email receipts, verify OTP request rates, track authentication sessions, and handle appeal tickets.</a:t>
            </a:r>
          </a:p>
        </p:txBody>
      </p:sp>
      <p:sp>
        <p:nvSpPr>
          <p:cNvPr id="21" name="Rounded Rectangle 20"/>
          <p:cNvSpPr/>
          <p:nvPr/>
        </p:nvSpPr>
        <p:spPr>
          <a:xfrm>
            <a:off x="8065008" y="4069080"/>
            <a:ext cx="3383280" cy="2148840"/>
          </a:xfrm>
          <a:prstGeom prst="roundRect">
            <a:avLst/>
          </a:prstGeom>
          <a:solidFill>
            <a:srgbClr val="FFFFFF"/>
          </a:solidFill>
          <a:ln w="12700">
            <a:solidFill>
              <a:srgbClr val="0EA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65008" y="4069080"/>
            <a:ext cx="3383280" cy="54864"/>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02168" y="4206240"/>
            <a:ext cx="3108960" cy="1828800"/>
          </a:xfrm>
          <a:prstGeom prst="rect">
            <a:avLst/>
          </a:prstGeom>
          <a:noFill/>
        </p:spPr>
        <p:txBody>
          <a:bodyPr wrap="square">
            <a:spAutoFit/>
          </a:bodyPr>
          <a:lstStyle/>
          <a:p>
            <a:pPr>
              <a:defRPr sz="1200" b="1">
                <a:solidFill>
                  <a:srgbClr val="0EA5E9"/>
                </a:solidFill>
                <a:latin typeface="Trebuchet MS"/>
              </a:defRPr>
            </a:pPr>
            <a:r>
              <a:t>Real-Time KPI Dashboard</a:t>
            </a:r>
          </a:p>
          <a:p>
            <a:pPr>
              <a:spcBef>
                <a:spcPts val="400"/>
              </a:spcBef>
              <a:defRPr sz="1000">
                <a:solidFill>
                  <a:srgbClr val="64748B"/>
                </a:solidFill>
                <a:latin typeface="Calibri"/>
              </a:defRPr>
            </a:pPr>
            <a:r>
              <a:t>Aggregated financial and operational metrics: Total Revenue, Credit Outstanding, Active Dealers, and Plumber Utilization.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91840" cy="292608"/>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50" b="1">
                <a:solidFill>
                  <a:srgbClr val="06B6D4"/>
                </a:solidFill>
                <a:latin typeface="Trebuchet MS"/>
              </a:defRPr>
            </a:pPr>
            <a:r>
              <a:t>INTEGRATION DEEP DIVE</a:t>
            </a:r>
          </a:p>
        </p:txBody>
      </p:sp>
      <p:sp>
        <p:nvSpPr>
          <p:cNvPr id="4" name="TextBox 3"/>
          <p:cNvSpPr txBox="1"/>
          <p:nvPr/>
        </p:nvSpPr>
        <p:spPr>
          <a:xfrm>
            <a:off x="685800" y="749808"/>
            <a:ext cx="10789920" cy="640080"/>
          </a:xfrm>
          <a:prstGeom prst="rect">
            <a:avLst/>
          </a:prstGeom>
          <a:noFill/>
        </p:spPr>
        <p:txBody>
          <a:bodyPr wrap="square" tIns="0" bIns="0" lIns="0" rIns="0">
            <a:spAutoFit/>
          </a:bodyPr>
          <a:lstStyle/>
          <a:p>
            <a:pPr>
              <a:defRPr sz="2200" b="1">
                <a:solidFill>
                  <a:srgbClr val="FFFFFF"/>
                </a:solidFill>
                <a:latin typeface="Trebuchet MS"/>
              </a:defRPr>
            </a:pPr>
            <a:r>
              <a:t>Deep Dive: Enterprise Zoho Synchronization Architecture</a:t>
            </a:r>
          </a:p>
        </p:txBody>
      </p:sp>
      <p:sp>
        <p:nvSpPr>
          <p:cNvPr id="5" name="Rectangle 4"/>
          <p:cNvSpPr/>
          <p:nvPr/>
        </p:nvSpPr>
        <p:spPr>
          <a:xfrm>
            <a:off x="731520" y="1444752"/>
            <a:ext cx="10728655" cy="2743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83280" cy="3291840"/>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338328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28800"/>
            <a:ext cx="3108960" cy="2926080"/>
          </a:xfrm>
          <a:prstGeom prst="rect">
            <a:avLst/>
          </a:prstGeom>
          <a:noFill/>
        </p:spPr>
        <p:txBody>
          <a:bodyPr wrap="square">
            <a:spAutoFit/>
          </a:bodyPr>
          <a:lstStyle/>
          <a:p>
            <a:pPr>
              <a:defRPr sz="1300" b="1">
                <a:solidFill>
                  <a:srgbClr val="0284C7"/>
                </a:solidFill>
                <a:latin typeface="Trebuchet MS"/>
              </a:defRPr>
            </a:pPr>
            <a:r>
              <a:t>1. OAuth 2.0 Token Lifecycle</a:t>
            </a:r>
          </a:p>
          <a:p>
            <a:pPr>
              <a:spcBef>
                <a:spcPts val="600"/>
              </a:spcBef>
              <a:defRPr sz="1050">
                <a:solidFill>
                  <a:srgbClr val="94A3B8"/>
                </a:solidFill>
                <a:latin typeface="Calibri"/>
              </a:defRPr>
            </a:pPr>
            <a:r>
              <a:t>• Automated code exchange against Zoho Accounts API.</a:t>
            </a:r>
          </a:p>
          <a:p>
            <a:pPr>
              <a:spcBef>
                <a:spcPts val="600"/>
              </a:spcBef>
              <a:defRPr sz="1050">
                <a:solidFill>
                  <a:srgbClr val="94A3B8"/>
                </a:solidFill>
                <a:latin typeface="Calibri"/>
              </a:defRPr>
            </a:pPr>
            <a:r>
              <a:t>• Encrypted local persistence (`zoho_tokens.json`).</a:t>
            </a:r>
          </a:p>
          <a:p>
            <a:pPr>
              <a:spcBef>
                <a:spcPts val="600"/>
              </a:spcBef>
              <a:defRPr sz="1050">
                <a:solidFill>
                  <a:srgbClr val="94A3B8"/>
                </a:solidFill>
                <a:latin typeface="Calibri"/>
              </a:defRPr>
            </a:pPr>
            <a:r>
              <a:t>• Proactive token refresh cycle preventing API expiration.</a:t>
            </a:r>
          </a:p>
          <a:p>
            <a:pPr>
              <a:spcBef>
                <a:spcPts val="600"/>
              </a:spcBef>
              <a:defRPr sz="1050">
                <a:solidFill>
                  <a:srgbClr val="94A3B8"/>
                </a:solidFill>
                <a:latin typeface="Calibri"/>
              </a:defRPr>
            </a:pPr>
            <a:r>
              <a:t>• Scope: `ZohoInventory.fullaccess.all`.</a:t>
            </a:r>
          </a:p>
        </p:txBody>
      </p:sp>
      <p:sp>
        <p:nvSpPr>
          <p:cNvPr id="9" name="Rounded Rectangle 8"/>
          <p:cNvSpPr/>
          <p:nvPr/>
        </p:nvSpPr>
        <p:spPr>
          <a:xfrm>
            <a:off x="4398264" y="1645920"/>
            <a:ext cx="3383280" cy="3291840"/>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98264" y="1645920"/>
            <a:ext cx="338328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35424" y="1828800"/>
            <a:ext cx="3108960" cy="2926080"/>
          </a:xfrm>
          <a:prstGeom prst="rect">
            <a:avLst/>
          </a:prstGeom>
          <a:noFill/>
        </p:spPr>
        <p:txBody>
          <a:bodyPr wrap="square">
            <a:spAutoFit/>
          </a:bodyPr>
          <a:lstStyle/>
          <a:p>
            <a:pPr>
              <a:defRPr sz="1300" b="1">
                <a:solidFill>
                  <a:srgbClr val="06B6D4"/>
                </a:solidFill>
                <a:latin typeface="Trebuchet MS"/>
              </a:defRPr>
            </a:pPr>
            <a:r>
              <a:t>2. Bi-Directional Inventory Sync</a:t>
            </a:r>
          </a:p>
          <a:p>
            <a:pPr>
              <a:spcBef>
                <a:spcPts val="600"/>
              </a:spcBef>
              <a:defRPr sz="1050">
                <a:solidFill>
                  <a:srgbClr val="94A3B8"/>
                </a:solidFill>
                <a:latin typeface="Calibri"/>
              </a:defRPr>
            </a:pPr>
            <a:r>
              <a:t>• Fetch items, SKUs, brand mappings, and price tiers.</a:t>
            </a:r>
          </a:p>
          <a:p>
            <a:pPr>
              <a:spcBef>
                <a:spcPts val="600"/>
              </a:spcBef>
              <a:defRPr sz="1050">
                <a:solidFill>
                  <a:srgbClr val="94A3B8"/>
                </a:solidFill>
                <a:latin typeface="Calibri"/>
              </a:defRPr>
            </a:pPr>
            <a:r>
              <a:t>• Reconcile live warehouse stock with web catalog.</a:t>
            </a:r>
          </a:p>
          <a:p>
            <a:pPr>
              <a:spcBef>
                <a:spcPts val="600"/>
              </a:spcBef>
              <a:defRPr sz="1050">
                <a:solidFill>
                  <a:srgbClr val="94A3B8"/>
                </a:solidFill>
                <a:latin typeface="Calibri"/>
              </a:defRPr>
            </a:pPr>
            <a:r>
              <a:t>• Update customer prices, dealer prices, and MOQs.</a:t>
            </a:r>
          </a:p>
          <a:p>
            <a:pPr>
              <a:spcBef>
                <a:spcPts val="600"/>
              </a:spcBef>
              <a:defRPr sz="1050">
                <a:solidFill>
                  <a:srgbClr val="94A3B8"/>
                </a:solidFill>
                <a:latin typeface="Calibri"/>
              </a:defRPr>
            </a:pPr>
            <a:r>
              <a:t>• Webhook triggers for immediate item updates.</a:t>
            </a:r>
          </a:p>
        </p:txBody>
      </p:sp>
      <p:sp>
        <p:nvSpPr>
          <p:cNvPr id="12" name="Rounded Rectangle 11"/>
          <p:cNvSpPr/>
          <p:nvPr/>
        </p:nvSpPr>
        <p:spPr>
          <a:xfrm>
            <a:off x="8065008" y="1645920"/>
            <a:ext cx="3383280" cy="329184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65008" y="1645920"/>
            <a:ext cx="338328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02168" y="1828800"/>
            <a:ext cx="3108960" cy="2926080"/>
          </a:xfrm>
          <a:prstGeom prst="rect">
            <a:avLst/>
          </a:prstGeom>
          <a:noFill/>
        </p:spPr>
        <p:txBody>
          <a:bodyPr wrap="square">
            <a:spAutoFit/>
          </a:bodyPr>
          <a:lstStyle/>
          <a:p>
            <a:pPr>
              <a:defRPr sz="1300" b="1">
                <a:solidFill>
                  <a:srgbClr val="10B981"/>
                </a:solidFill>
                <a:latin typeface="Trebuchet MS"/>
              </a:defRPr>
            </a:pPr>
            <a:r>
              <a:t>3. CRM Contact Integration</a:t>
            </a:r>
          </a:p>
          <a:p>
            <a:pPr>
              <a:spcBef>
                <a:spcPts val="600"/>
              </a:spcBef>
              <a:defRPr sz="1050">
                <a:solidFill>
                  <a:srgbClr val="94A3B8"/>
                </a:solidFill>
                <a:latin typeface="Calibri"/>
              </a:defRPr>
            </a:pPr>
            <a:r>
              <a:t>• Verify dealer mobile numbers against Zoho Contacts.</a:t>
            </a:r>
          </a:p>
          <a:p>
            <a:pPr>
              <a:spcBef>
                <a:spcPts val="600"/>
              </a:spcBef>
              <a:defRPr sz="1050">
                <a:solidFill>
                  <a:srgbClr val="94A3B8"/>
                </a:solidFill>
                <a:latin typeface="Calibri"/>
              </a:defRPr>
            </a:pPr>
            <a:r>
              <a:t>• Auto-create verified customer contacts in Zoho CRM.</a:t>
            </a:r>
          </a:p>
          <a:p>
            <a:pPr>
              <a:spcBef>
                <a:spcPts val="600"/>
              </a:spcBef>
              <a:defRPr sz="1050">
                <a:solidFill>
                  <a:srgbClr val="94A3B8"/>
                </a:solidFill>
                <a:latin typeface="Calibri"/>
              </a:defRPr>
            </a:pPr>
            <a:r>
              <a:t>• Track credit balances and sales orders in Zoho Books.</a:t>
            </a:r>
          </a:p>
          <a:p>
            <a:pPr>
              <a:spcBef>
                <a:spcPts val="600"/>
              </a:spcBef>
              <a:defRPr sz="1050">
                <a:solidFill>
                  <a:srgbClr val="94A3B8"/>
                </a:solidFill>
                <a:latin typeface="Calibri"/>
              </a:defRPr>
            </a:pPr>
            <a:r>
              <a:t>• Graceful offline fallback with local database cache.</a:t>
            </a:r>
          </a:p>
        </p:txBody>
      </p:sp>
      <p:sp>
        <p:nvSpPr>
          <p:cNvPr id="15" name="Rounded Rectangle 14"/>
          <p:cNvSpPr/>
          <p:nvPr/>
        </p:nvSpPr>
        <p:spPr>
          <a:xfrm>
            <a:off x="731520" y="5166360"/>
            <a:ext cx="10728655" cy="1143000"/>
          </a:xfrm>
          <a:prstGeom prst="round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257800"/>
            <a:ext cx="10332720" cy="914400"/>
          </a:xfrm>
          <a:prstGeom prst="rect">
            <a:avLst/>
          </a:prstGeom>
          <a:noFill/>
        </p:spPr>
        <p:txBody>
          <a:bodyPr wrap="square">
            <a:spAutoFit/>
          </a:bodyPr>
          <a:lstStyle/>
          <a:p>
            <a:pPr>
              <a:defRPr sz="1300" b="1">
                <a:solidFill>
                  <a:srgbClr val="6366F1"/>
                </a:solidFill>
                <a:latin typeface="Trebuchet MS"/>
              </a:defRPr>
            </a:pPr>
            <a:r>
              <a:t>High-Resilience Synchronization Guarantee</a:t>
            </a:r>
          </a:p>
          <a:p>
            <a:pPr>
              <a:spcBef>
                <a:spcPts val="400"/>
              </a:spcBef>
              <a:defRPr sz="1100">
                <a:solidFill>
                  <a:srgbClr val="FFFFFF"/>
                </a:solidFill>
                <a:latin typeface="Calibri"/>
              </a:defRPr>
            </a:pPr>
            <a:r>
              <a:t>In the event of network disruption or Zoho rate limits, PlumbMart's dual-tier data engine ensures zero downtime by serving verified cached snapshots while queuing updates for automatic reconciliation.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9184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50" b="1">
                <a:solidFill>
                  <a:srgbClr val="0284C7"/>
                </a:solidFill>
                <a:latin typeface="Trebuchet MS"/>
              </a:defRPr>
            </a:pPr>
            <a:r>
              <a:t>FINANCIAL GOVERNANCE</a:t>
            </a:r>
          </a:p>
        </p:txBody>
      </p:sp>
      <p:sp>
        <p:nvSpPr>
          <p:cNvPr id="4" name="TextBox 3"/>
          <p:cNvSpPr txBox="1"/>
          <p:nvPr/>
        </p:nvSpPr>
        <p:spPr>
          <a:xfrm>
            <a:off x="685800" y="749808"/>
            <a:ext cx="10789920" cy="640080"/>
          </a:xfrm>
          <a:prstGeom prst="rect">
            <a:avLst/>
          </a:prstGeom>
          <a:noFill/>
        </p:spPr>
        <p:txBody>
          <a:bodyPr wrap="square" tIns="0" bIns="0" lIns="0" rIns="0">
            <a:spAutoFit/>
          </a:bodyPr>
          <a:lstStyle/>
          <a:p>
            <a:pPr>
              <a:defRPr sz="2200" b="1">
                <a:solidFill>
                  <a:srgbClr val="0F172A"/>
                </a:solidFill>
                <a:latin typeface="Trebuchet MS"/>
              </a:defRPr>
            </a:pPr>
            <a:r>
              <a:t>Deep Dive: B2B Credit Risk Management &amp; Settlement Engine</a:t>
            </a:r>
          </a:p>
        </p:txBody>
      </p:sp>
      <p:sp>
        <p:nvSpPr>
          <p:cNvPr id="5" name="Rectangle 4"/>
          <p:cNvSpPr/>
          <p:nvPr/>
        </p:nvSpPr>
        <p:spPr>
          <a:xfrm>
            <a:off x="731520" y="1444752"/>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3383280" cy="448056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3383280" cy="5029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rebuchet MS"/>
              </a:defRPr>
            </a:pPr>
            <a:r>
              <a:t>Upfront Digital Payment</a:t>
            </a:r>
          </a:p>
          <a:p>
            <a:pPr algn="ctr">
              <a:defRPr sz="950">
                <a:solidFill>
                  <a:srgbClr val="E0F2FE"/>
                </a:solidFill>
                <a:latin typeface="Calibri"/>
              </a:defRPr>
            </a:pPr>
            <a:r>
              <a:t>Default Tier</a:t>
            </a:r>
          </a:p>
        </p:txBody>
      </p:sp>
      <p:sp>
        <p:nvSpPr>
          <p:cNvPr id="8" name="TextBox 7"/>
          <p:cNvSpPr txBox="1"/>
          <p:nvPr/>
        </p:nvSpPr>
        <p:spPr>
          <a:xfrm>
            <a:off x="868680" y="2286000"/>
            <a:ext cx="3108960" cy="3657600"/>
          </a:xfrm>
          <a:prstGeom prst="rect">
            <a:avLst/>
          </a:prstGeom>
          <a:noFill/>
        </p:spPr>
        <p:txBody>
          <a:bodyPr wrap="square">
            <a:spAutoFit/>
          </a:bodyPr>
          <a:lstStyle/>
          <a:p>
            <a:pPr>
              <a:defRPr sz="1050" b="1">
                <a:solidFill>
                  <a:srgbClr val="0284C7"/>
                </a:solidFill>
                <a:latin typeface="Trebuchet MS"/>
              </a:defRPr>
            </a:pPr>
            <a:r>
              <a:t>Eligibility</a:t>
            </a:r>
          </a:p>
          <a:p>
            <a:pPr>
              <a:spcBef>
                <a:spcPts val="200"/>
              </a:spcBef>
              <a:defRPr sz="1000">
                <a:solidFill>
                  <a:srgbClr val="64748B"/>
                </a:solidFill>
                <a:latin typeface="Calibri"/>
              </a:defRPr>
            </a:pPr>
            <a:r>
              <a:t>Available to all verified dealers.</a:t>
            </a:r>
          </a:p>
          <a:p>
            <a:pPr>
              <a:spcBef>
                <a:spcPts val="800"/>
              </a:spcBef>
              <a:defRPr sz="1050" b="1">
                <a:solidFill>
                  <a:srgbClr val="0284C7"/>
                </a:solidFill>
                <a:latin typeface="Trebuchet MS"/>
              </a:defRPr>
            </a:pPr>
            <a:r>
              <a:t>Risk Profile</a:t>
            </a:r>
          </a:p>
          <a:p>
            <a:pPr>
              <a:spcBef>
                <a:spcPts val="200"/>
              </a:spcBef>
              <a:defRPr sz="1000">
                <a:solidFill>
                  <a:srgbClr val="64748B"/>
                </a:solidFill>
                <a:latin typeface="Calibri"/>
              </a:defRPr>
            </a:pPr>
            <a:r>
              <a:t>Zero risk; immediate fund capture.</a:t>
            </a:r>
          </a:p>
          <a:p>
            <a:pPr>
              <a:spcBef>
                <a:spcPts val="800"/>
              </a:spcBef>
              <a:defRPr sz="1050" b="1">
                <a:solidFill>
                  <a:srgbClr val="0284C7"/>
                </a:solidFill>
                <a:latin typeface="Trebuchet MS"/>
              </a:defRPr>
            </a:pPr>
            <a:r>
              <a:t>Order Dispatch</a:t>
            </a:r>
          </a:p>
          <a:p>
            <a:pPr>
              <a:spcBef>
                <a:spcPts val="200"/>
              </a:spcBef>
              <a:defRPr sz="1000">
                <a:solidFill>
                  <a:srgbClr val="64748B"/>
                </a:solidFill>
                <a:latin typeface="Calibri"/>
              </a:defRPr>
            </a:pPr>
            <a:r>
              <a:t>Instant warehouse release upon confirmation.</a:t>
            </a:r>
          </a:p>
          <a:p>
            <a:pPr>
              <a:spcBef>
                <a:spcPts val="800"/>
              </a:spcBef>
              <a:defRPr sz="1050" b="1">
                <a:solidFill>
                  <a:srgbClr val="0284C7"/>
                </a:solidFill>
                <a:latin typeface="Trebuchet MS"/>
              </a:defRPr>
            </a:pPr>
            <a:r>
              <a:t>Payment Rails</a:t>
            </a:r>
          </a:p>
          <a:p>
            <a:pPr>
              <a:spcBef>
                <a:spcPts val="200"/>
              </a:spcBef>
              <a:defRPr sz="1000">
                <a:solidFill>
                  <a:srgbClr val="64748B"/>
                </a:solidFill>
                <a:latin typeface="Calibri"/>
              </a:defRPr>
            </a:pPr>
            <a:r>
              <a:t>Card, UPI, Net Banking, and Bank Transfer.</a:t>
            </a:r>
          </a:p>
        </p:txBody>
      </p:sp>
      <p:sp>
        <p:nvSpPr>
          <p:cNvPr id="9" name="Rounded Rectangle 8"/>
          <p:cNvSpPr/>
          <p:nvPr/>
        </p:nvSpPr>
        <p:spPr>
          <a:xfrm>
            <a:off x="4398264" y="1645920"/>
            <a:ext cx="3383280" cy="4480560"/>
          </a:xfrm>
          <a:prstGeom prst="round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98264" y="1645920"/>
            <a:ext cx="3383280" cy="502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rebuchet MS"/>
              </a:defRPr>
            </a:pPr>
            <a:r>
              <a:t>30-Day Trade Credit</a:t>
            </a:r>
          </a:p>
          <a:p>
            <a:pPr algn="ctr">
              <a:defRPr sz="950">
                <a:solidFill>
                  <a:srgbClr val="E0F2FE"/>
                </a:solidFill>
                <a:latin typeface="Calibri"/>
              </a:defRPr>
            </a:pPr>
            <a:r>
              <a:t>Standard Wholesale Tier</a:t>
            </a:r>
          </a:p>
        </p:txBody>
      </p:sp>
      <p:sp>
        <p:nvSpPr>
          <p:cNvPr id="11" name="TextBox 10"/>
          <p:cNvSpPr txBox="1"/>
          <p:nvPr/>
        </p:nvSpPr>
        <p:spPr>
          <a:xfrm>
            <a:off x="4535424" y="2286000"/>
            <a:ext cx="3108960" cy="3657600"/>
          </a:xfrm>
          <a:prstGeom prst="rect">
            <a:avLst/>
          </a:prstGeom>
          <a:noFill/>
        </p:spPr>
        <p:txBody>
          <a:bodyPr wrap="square">
            <a:spAutoFit/>
          </a:bodyPr>
          <a:lstStyle/>
          <a:p>
            <a:pPr>
              <a:defRPr sz="1050" b="1">
                <a:solidFill>
                  <a:srgbClr val="F59E0B"/>
                </a:solidFill>
                <a:latin typeface="Trebuchet MS"/>
              </a:defRPr>
            </a:pPr>
            <a:r>
              <a:t>Eligibility</a:t>
            </a:r>
          </a:p>
          <a:p>
            <a:pPr>
              <a:spcBef>
                <a:spcPts val="200"/>
              </a:spcBef>
              <a:defRPr sz="1000">
                <a:solidFill>
                  <a:srgbClr val="64748B"/>
                </a:solidFill>
                <a:latin typeface="Calibri"/>
              </a:defRPr>
            </a:pPr>
            <a:r>
              <a:t>Requires Zoho verified track record + Admin approval.</a:t>
            </a:r>
          </a:p>
          <a:p>
            <a:pPr>
              <a:spcBef>
                <a:spcPts val="800"/>
              </a:spcBef>
              <a:defRPr sz="1050" b="1">
                <a:solidFill>
                  <a:srgbClr val="F59E0B"/>
                </a:solidFill>
                <a:latin typeface="Trebuchet MS"/>
              </a:defRPr>
            </a:pPr>
            <a:r>
              <a:t>Credit Limit</a:t>
            </a:r>
          </a:p>
          <a:p>
            <a:pPr>
              <a:spcBef>
                <a:spcPts val="200"/>
              </a:spcBef>
              <a:defRPr sz="1000">
                <a:solidFill>
                  <a:srgbClr val="64748B"/>
                </a:solidFill>
                <a:latin typeface="Calibri"/>
              </a:defRPr>
            </a:pPr>
            <a:r>
              <a:t>Dynamic ceiling (e.g. Rs 1,50,000 to Rs 3,00,000).</a:t>
            </a:r>
          </a:p>
          <a:p>
            <a:pPr>
              <a:spcBef>
                <a:spcPts val="800"/>
              </a:spcBef>
              <a:defRPr sz="1050" b="1">
                <a:solidFill>
                  <a:srgbClr val="F59E0B"/>
                </a:solidFill>
                <a:latin typeface="Trebuchet MS"/>
              </a:defRPr>
            </a:pPr>
            <a:r>
              <a:t>Maturity Calc</a:t>
            </a:r>
          </a:p>
          <a:p>
            <a:pPr>
              <a:spcBef>
                <a:spcPts val="200"/>
              </a:spcBef>
              <a:defRPr sz="1000">
                <a:solidFill>
                  <a:srgbClr val="64748B"/>
                </a:solidFill>
                <a:latin typeface="Calibri"/>
              </a:defRPr>
            </a:pPr>
            <a:r>
              <a:t>Order date + 30 days automated due timestamp.</a:t>
            </a:r>
          </a:p>
          <a:p>
            <a:pPr>
              <a:spcBef>
                <a:spcPts val="800"/>
              </a:spcBef>
              <a:defRPr sz="1050" b="1">
                <a:solidFill>
                  <a:srgbClr val="F59E0B"/>
                </a:solidFill>
                <a:latin typeface="Trebuchet MS"/>
              </a:defRPr>
            </a:pPr>
            <a:r>
              <a:t>Settlement</a:t>
            </a:r>
          </a:p>
          <a:p>
            <a:pPr>
              <a:spcBef>
                <a:spcPts val="200"/>
              </a:spcBef>
              <a:defRPr sz="1000">
                <a:solidFill>
                  <a:srgbClr val="64748B"/>
                </a:solidFill>
                <a:latin typeface="Calibri"/>
              </a:defRPr>
            </a:pPr>
            <a:r>
              <a:t>In-app invoice settlement tracking.</a:t>
            </a:r>
          </a:p>
        </p:txBody>
      </p:sp>
      <p:sp>
        <p:nvSpPr>
          <p:cNvPr id="12" name="Rounded Rectangle 11"/>
          <p:cNvSpPr/>
          <p:nvPr/>
        </p:nvSpPr>
        <p:spPr>
          <a:xfrm>
            <a:off x="8065008" y="1645920"/>
            <a:ext cx="3383280" cy="4480560"/>
          </a:xfrm>
          <a:prstGeom prst="roundRect">
            <a:avLst/>
          </a:prstGeom>
          <a:solidFill>
            <a:srgbClr val="FFFFFF"/>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65008" y="1645920"/>
            <a:ext cx="3383280" cy="5029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Trebuchet MS"/>
              </a:defRPr>
            </a:pPr>
            <a:r>
              <a:t>90-Day Extended Credit</a:t>
            </a:r>
          </a:p>
          <a:p>
            <a:pPr algn="ctr">
              <a:defRPr sz="950">
                <a:solidFill>
                  <a:srgbClr val="E0F2FE"/>
                </a:solidFill>
                <a:latin typeface="Calibri"/>
              </a:defRPr>
            </a:pPr>
            <a:r>
              <a:t>Premium Distributor Tier</a:t>
            </a:r>
          </a:p>
        </p:txBody>
      </p:sp>
      <p:sp>
        <p:nvSpPr>
          <p:cNvPr id="14" name="TextBox 13"/>
          <p:cNvSpPr txBox="1"/>
          <p:nvPr/>
        </p:nvSpPr>
        <p:spPr>
          <a:xfrm>
            <a:off x="8202168" y="2286000"/>
            <a:ext cx="3108960" cy="3657600"/>
          </a:xfrm>
          <a:prstGeom prst="rect">
            <a:avLst/>
          </a:prstGeom>
          <a:noFill/>
        </p:spPr>
        <p:txBody>
          <a:bodyPr wrap="square">
            <a:spAutoFit/>
          </a:bodyPr>
          <a:lstStyle/>
          <a:p>
            <a:pPr>
              <a:defRPr sz="1050" b="1">
                <a:solidFill>
                  <a:srgbClr val="6366F1"/>
                </a:solidFill>
                <a:latin typeface="Trebuchet MS"/>
              </a:defRPr>
            </a:pPr>
            <a:r>
              <a:t>Eligibility</a:t>
            </a:r>
          </a:p>
          <a:p>
            <a:pPr>
              <a:spcBef>
                <a:spcPts val="200"/>
              </a:spcBef>
              <a:defRPr sz="1000">
                <a:solidFill>
                  <a:srgbClr val="64748B"/>
                </a:solidFill>
                <a:latin typeface="Calibri"/>
              </a:defRPr>
            </a:pPr>
            <a:r>
              <a:t>Restricted exclusively to top-tier enterprise dealers.</a:t>
            </a:r>
          </a:p>
          <a:p>
            <a:pPr>
              <a:spcBef>
                <a:spcPts val="800"/>
              </a:spcBef>
              <a:defRPr sz="1050" b="1">
                <a:solidFill>
                  <a:srgbClr val="6366F1"/>
                </a:solidFill>
                <a:latin typeface="Trebuchet MS"/>
              </a:defRPr>
            </a:pPr>
            <a:r>
              <a:t>Credit Limit</a:t>
            </a:r>
          </a:p>
          <a:p>
            <a:pPr>
              <a:spcBef>
                <a:spcPts val="200"/>
              </a:spcBef>
              <a:defRPr sz="1000">
                <a:solidFill>
                  <a:srgbClr val="64748B"/>
                </a:solidFill>
                <a:latin typeface="Calibri"/>
              </a:defRPr>
            </a:pPr>
            <a:r>
              <a:t>Extended lines (e.g. Rs 5,00,000+).</a:t>
            </a:r>
          </a:p>
          <a:p>
            <a:pPr>
              <a:spcBef>
                <a:spcPts val="800"/>
              </a:spcBef>
              <a:defRPr sz="1050" b="1">
                <a:solidFill>
                  <a:srgbClr val="6366F1"/>
                </a:solidFill>
                <a:latin typeface="Trebuchet MS"/>
              </a:defRPr>
            </a:pPr>
            <a:r>
              <a:t>Governance</a:t>
            </a:r>
          </a:p>
          <a:p>
            <a:pPr>
              <a:spcBef>
                <a:spcPts val="200"/>
              </a:spcBef>
              <a:defRPr sz="1000">
                <a:solidFill>
                  <a:srgbClr val="64748B"/>
                </a:solidFill>
                <a:latin typeface="Calibri"/>
              </a:defRPr>
            </a:pPr>
            <a:r>
              <a:t>Multi-point admin review &amp; KYC agreement.</a:t>
            </a:r>
          </a:p>
          <a:p>
            <a:pPr>
              <a:spcBef>
                <a:spcPts val="800"/>
              </a:spcBef>
              <a:defRPr sz="1050" b="1">
                <a:solidFill>
                  <a:srgbClr val="6366F1"/>
                </a:solidFill>
                <a:latin typeface="Trebuchet MS"/>
              </a:defRPr>
            </a:pPr>
            <a:r>
              <a:t>Risk Controls</a:t>
            </a:r>
          </a:p>
          <a:p>
            <a:pPr>
              <a:spcBef>
                <a:spcPts val="200"/>
              </a:spcBef>
              <a:defRPr sz="1000">
                <a:solidFill>
                  <a:srgbClr val="64748B"/>
                </a:solidFill>
                <a:latin typeface="Calibri"/>
              </a:defRPr>
            </a:pPr>
            <a:r>
              <a:t>Immediate auto-lock on overdue maturity.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9184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50" b="1">
                <a:solidFill>
                  <a:srgbClr val="0284C7"/>
                </a:solidFill>
                <a:latin typeface="Trebuchet MS"/>
              </a:defRPr>
            </a:pPr>
            <a:r>
              <a:t>SECURITY &amp; COMPLIANCE</a:t>
            </a:r>
          </a:p>
        </p:txBody>
      </p:sp>
      <p:sp>
        <p:nvSpPr>
          <p:cNvPr id="4" name="TextBox 3"/>
          <p:cNvSpPr txBox="1"/>
          <p:nvPr/>
        </p:nvSpPr>
        <p:spPr>
          <a:xfrm>
            <a:off x="685800" y="749808"/>
            <a:ext cx="10789920" cy="640080"/>
          </a:xfrm>
          <a:prstGeom prst="rect">
            <a:avLst/>
          </a:prstGeom>
          <a:noFill/>
        </p:spPr>
        <p:txBody>
          <a:bodyPr wrap="square" tIns="0" bIns="0" lIns="0" rIns="0">
            <a:spAutoFit/>
          </a:bodyPr>
          <a:lstStyle/>
          <a:p>
            <a:pPr>
              <a:defRPr sz="2200" b="1">
                <a:solidFill>
                  <a:srgbClr val="0F172A"/>
                </a:solidFill>
                <a:latin typeface="Trebuchet MS"/>
              </a:defRPr>
            </a:pPr>
            <a:r>
              <a:t>Security Architecture, Role-Based Access Control &amp; Data Privacy</a:t>
            </a:r>
          </a:p>
        </p:txBody>
      </p:sp>
      <p:sp>
        <p:nvSpPr>
          <p:cNvPr id="5" name="Rectangle 4"/>
          <p:cNvSpPr/>
          <p:nvPr/>
        </p:nvSpPr>
        <p:spPr>
          <a:xfrm>
            <a:off x="731520" y="1444752"/>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212080" cy="2103120"/>
          </a:xfrm>
          <a:prstGeom prst="roundRect">
            <a:avLst/>
          </a:prstGeom>
          <a:solidFill>
            <a:srgbClr val="FFFFFF"/>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09728" cy="210312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828800"/>
            <a:ext cx="4800600" cy="1737360"/>
          </a:xfrm>
          <a:prstGeom prst="rect">
            <a:avLst/>
          </a:prstGeom>
          <a:noFill/>
        </p:spPr>
        <p:txBody>
          <a:bodyPr wrap="square">
            <a:spAutoFit/>
          </a:bodyPr>
          <a:lstStyle/>
          <a:p>
            <a:pPr>
              <a:defRPr sz="1400" b="1">
                <a:solidFill>
                  <a:srgbClr val="0284C7"/>
                </a:solidFill>
                <a:latin typeface="Trebuchet MS"/>
              </a:defRPr>
            </a:pPr>
            <a:r>
              <a:t>Passwordless OTP Security</a:t>
            </a:r>
          </a:p>
          <a:p>
            <a:pPr>
              <a:spcBef>
                <a:spcPts val="600"/>
              </a:spcBef>
              <a:defRPr sz="1100">
                <a:solidFill>
                  <a:srgbClr val="0F172A"/>
                </a:solidFill>
                <a:latin typeface="Calibri"/>
              </a:defRPr>
            </a:pPr>
            <a:r>
              <a:t>Eliminates credential stuffing, phishing, and weak password vulnerabilities. Verified via mobile SMS or simulated secure OTP store (`otp_store.json`).</a:t>
            </a:r>
          </a:p>
        </p:txBody>
      </p:sp>
      <p:sp>
        <p:nvSpPr>
          <p:cNvPr id="9" name="Rounded Rectangle 8"/>
          <p:cNvSpPr/>
          <p:nvPr/>
        </p:nvSpPr>
        <p:spPr>
          <a:xfrm>
            <a:off x="6245352" y="1645920"/>
            <a:ext cx="5212080" cy="2103120"/>
          </a:xfrm>
          <a:prstGeom prst="roundRect">
            <a:avLst/>
          </a:prstGeom>
          <a:solidFill>
            <a:srgbClr val="FFFFF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45352" y="1645920"/>
            <a:ext cx="109728" cy="21031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73952" y="1828800"/>
            <a:ext cx="4800600" cy="1737360"/>
          </a:xfrm>
          <a:prstGeom prst="rect">
            <a:avLst/>
          </a:prstGeom>
          <a:noFill/>
        </p:spPr>
        <p:txBody>
          <a:bodyPr wrap="square">
            <a:spAutoFit/>
          </a:bodyPr>
          <a:lstStyle/>
          <a:p>
            <a:pPr>
              <a:defRPr sz="1400" b="1">
                <a:solidFill>
                  <a:srgbClr val="F59E0B"/>
                </a:solidFill>
                <a:latin typeface="Trebuchet MS"/>
              </a:defRPr>
            </a:pPr>
            <a:r>
              <a:t>API-Level Data Stripping</a:t>
            </a:r>
          </a:p>
          <a:p>
            <a:pPr>
              <a:spcBef>
                <a:spcPts val="600"/>
              </a:spcBef>
              <a:defRPr sz="1100">
                <a:solidFill>
                  <a:srgbClr val="0F172A"/>
                </a:solidFill>
                <a:latin typeface="Calibri"/>
              </a:defRPr>
            </a:pPr>
            <a:r>
              <a:t>The backend actively intercepts product queries. Customer payloads are stripped of exact stock numbers and wholesale dealer margins before JSON serialization.</a:t>
            </a:r>
          </a:p>
        </p:txBody>
      </p:sp>
      <p:sp>
        <p:nvSpPr>
          <p:cNvPr id="12" name="Rounded Rectangle 11"/>
          <p:cNvSpPr/>
          <p:nvPr/>
        </p:nvSpPr>
        <p:spPr>
          <a:xfrm>
            <a:off x="731520" y="4069080"/>
            <a:ext cx="5212080" cy="2103120"/>
          </a:xfrm>
          <a:prstGeom prst="roundRect">
            <a:avLst/>
          </a:prstGeom>
          <a:solidFill>
            <a:srgbClr val="FFFFF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4069080"/>
            <a:ext cx="109728" cy="21031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251960"/>
            <a:ext cx="4800600" cy="1737360"/>
          </a:xfrm>
          <a:prstGeom prst="rect">
            <a:avLst/>
          </a:prstGeom>
          <a:noFill/>
        </p:spPr>
        <p:txBody>
          <a:bodyPr wrap="square">
            <a:spAutoFit/>
          </a:bodyPr>
          <a:lstStyle/>
          <a:p>
            <a:pPr>
              <a:defRPr sz="1400" b="1">
                <a:solidFill>
                  <a:srgbClr val="10B981"/>
                </a:solidFill>
                <a:latin typeface="Trebuchet MS"/>
              </a:defRPr>
            </a:pPr>
            <a:r>
              <a:t>Role-Based Middleware Guards</a:t>
            </a:r>
          </a:p>
          <a:p>
            <a:pPr>
              <a:spcBef>
                <a:spcPts val="600"/>
              </a:spcBef>
              <a:defRPr sz="1100">
                <a:solidFill>
                  <a:srgbClr val="0F172A"/>
                </a:solidFill>
                <a:latin typeface="Calibri"/>
              </a:defRPr>
            </a:pPr>
            <a:r>
              <a:t>Express middleware and React Router v7 protect customer, dealer, plumber, and admin endpoints. Unauthorized cross-role access is rejected with 403 Forbidden.</a:t>
            </a:r>
          </a:p>
        </p:txBody>
      </p:sp>
      <p:sp>
        <p:nvSpPr>
          <p:cNvPr id="15" name="Rounded Rectangle 14"/>
          <p:cNvSpPr/>
          <p:nvPr/>
        </p:nvSpPr>
        <p:spPr>
          <a:xfrm>
            <a:off x="6245352" y="4069080"/>
            <a:ext cx="5212080" cy="2103120"/>
          </a:xfrm>
          <a:prstGeom prst="roundRect">
            <a:avLst/>
          </a:prstGeom>
          <a:solidFill>
            <a:srgbClr val="FFFFFF"/>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45352" y="4069080"/>
            <a:ext cx="109728" cy="2103120"/>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73952" y="4251960"/>
            <a:ext cx="4800600" cy="1737360"/>
          </a:xfrm>
          <a:prstGeom prst="rect">
            <a:avLst/>
          </a:prstGeom>
          <a:noFill/>
        </p:spPr>
        <p:txBody>
          <a:bodyPr wrap="square">
            <a:spAutoFit/>
          </a:bodyPr>
          <a:lstStyle/>
          <a:p>
            <a:pPr>
              <a:defRPr sz="1400" b="1">
                <a:solidFill>
                  <a:srgbClr val="6366F1"/>
                </a:solidFill>
                <a:latin typeface="Trebuchet MS"/>
              </a:defRPr>
            </a:pPr>
            <a:r>
              <a:t>Supabase Connection Security</a:t>
            </a:r>
          </a:p>
          <a:p>
            <a:pPr>
              <a:spcBef>
                <a:spcPts val="600"/>
              </a:spcBef>
              <a:defRPr sz="1100">
                <a:solidFill>
                  <a:srgbClr val="0F172A"/>
                </a:solidFill>
                <a:latin typeface="Calibri"/>
              </a:defRPr>
            </a:pPr>
            <a:r>
              <a:t>PostgreSQL pool connections run over TLS/SSL encryption with strict parameterized queries (`$1, $2`) preventing SQL injection vulnerabilities.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91840" cy="292608"/>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50" b="1">
                <a:solidFill>
                  <a:srgbClr val="06B6D4"/>
                </a:solidFill>
                <a:latin typeface="Trebuchet MS"/>
              </a:defRPr>
            </a:pPr>
            <a:r>
              <a:t>LIFECYCLE FLOW</a:t>
            </a:r>
          </a:p>
        </p:txBody>
      </p:sp>
      <p:sp>
        <p:nvSpPr>
          <p:cNvPr id="4" name="TextBox 3"/>
          <p:cNvSpPr txBox="1"/>
          <p:nvPr/>
        </p:nvSpPr>
        <p:spPr>
          <a:xfrm>
            <a:off x="685800" y="749808"/>
            <a:ext cx="10789920" cy="640080"/>
          </a:xfrm>
          <a:prstGeom prst="rect">
            <a:avLst/>
          </a:prstGeom>
          <a:noFill/>
        </p:spPr>
        <p:txBody>
          <a:bodyPr wrap="square" tIns="0" bIns="0" lIns="0" rIns="0">
            <a:spAutoFit/>
          </a:bodyPr>
          <a:lstStyle/>
          <a:p>
            <a:pPr>
              <a:defRPr sz="2200" b="1">
                <a:solidFill>
                  <a:srgbClr val="FFFFFF"/>
                </a:solidFill>
                <a:latin typeface="Trebuchet MS"/>
              </a:defRPr>
            </a:pPr>
            <a:r>
              <a:t>End-to-End Operational Lifecycle: From Order to Installation</a:t>
            </a:r>
          </a:p>
        </p:txBody>
      </p:sp>
      <p:sp>
        <p:nvSpPr>
          <p:cNvPr id="5" name="Rectangle 4"/>
          <p:cNvSpPr/>
          <p:nvPr/>
        </p:nvSpPr>
        <p:spPr>
          <a:xfrm>
            <a:off x="731520" y="1444752"/>
            <a:ext cx="10728655" cy="2743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965960" cy="4480560"/>
          </a:xfrm>
          <a:prstGeom prst="roundRect">
            <a:avLst/>
          </a:prstGeom>
          <a:solidFill>
            <a:srgbClr val="1E293B"/>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965960"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1828800"/>
            <a:ext cx="1746504" cy="4114800"/>
          </a:xfrm>
          <a:prstGeom prst="rect">
            <a:avLst/>
          </a:prstGeom>
          <a:noFill/>
        </p:spPr>
        <p:txBody>
          <a:bodyPr wrap="square">
            <a:spAutoFit/>
          </a:bodyPr>
          <a:lstStyle/>
          <a:p>
            <a:pPr>
              <a:defRPr sz="1300" b="1">
                <a:solidFill>
                  <a:srgbClr val="0284C7"/>
                </a:solidFill>
                <a:latin typeface="Trebuchet MS"/>
              </a:defRPr>
            </a:pPr>
            <a:r>
              <a:t>1. Order Placed</a:t>
            </a:r>
          </a:p>
          <a:p>
            <a:pPr>
              <a:spcBef>
                <a:spcPts val="1000"/>
              </a:spcBef>
              <a:defRPr sz="1050">
                <a:solidFill>
                  <a:srgbClr val="94A3B8"/>
                </a:solidFill>
                <a:latin typeface="Calibri"/>
              </a:defRPr>
            </a:pPr>
            <a:r>
              <a:t>Customer purchases CPVC pipe &amp; mixer tap; requests installation at checkout.</a:t>
            </a:r>
          </a:p>
        </p:txBody>
      </p:sp>
      <p:sp>
        <p:nvSpPr>
          <p:cNvPr id="9" name="Rounded Rectangle 8"/>
          <p:cNvSpPr/>
          <p:nvPr/>
        </p:nvSpPr>
        <p:spPr>
          <a:xfrm>
            <a:off x="2921508" y="1645920"/>
            <a:ext cx="1965960" cy="4480560"/>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21508" y="1645920"/>
            <a:ext cx="1965960" cy="73152"/>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31236" y="1828800"/>
            <a:ext cx="1746504" cy="4114800"/>
          </a:xfrm>
          <a:prstGeom prst="rect">
            <a:avLst/>
          </a:prstGeom>
          <a:noFill/>
        </p:spPr>
        <p:txBody>
          <a:bodyPr wrap="square">
            <a:spAutoFit/>
          </a:bodyPr>
          <a:lstStyle/>
          <a:p>
            <a:pPr>
              <a:defRPr sz="1300" b="1">
                <a:solidFill>
                  <a:srgbClr val="06B6D4"/>
                </a:solidFill>
                <a:latin typeface="Trebuchet MS"/>
              </a:defRPr>
            </a:pPr>
            <a:r>
              <a:t>2. Inventory &amp; Receipt</a:t>
            </a:r>
          </a:p>
          <a:p>
            <a:pPr>
              <a:spcBef>
                <a:spcPts val="1000"/>
              </a:spcBef>
              <a:defRPr sz="1050">
                <a:solidFill>
                  <a:srgbClr val="94A3B8"/>
                </a:solidFill>
                <a:latin typeface="Calibri"/>
              </a:defRPr>
            </a:pPr>
            <a:r>
              <a:t>Backend reserves Zoho stock, creates order record, and emails invoice receipt.</a:t>
            </a:r>
          </a:p>
        </p:txBody>
      </p:sp>
      <p:sp>
        <p:nvSpPr>
          <p:cNvPr id="12" name="Rounded Rectangle 11"/>
          <p:cNvSpPr/>
          <p:nvPr/>
        </p:nvSpPr>
        <p:spPr>
          <a:xfrm>
            <a:off x="5111496" y="1645920"/>
            <a:ext cx="1965960" cy="448056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11496" y="1645920"/>
            <a:ext cx="196596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21224" y="1828800"/>
            <a:ext cx="1746504" cy="4114800"/>
          </a:xfrm>
          <a:prstGeom prst="rect">
            <a:avLst/>
          </a:prstGeom>
          <a:noFill/>
        </p:spPr>
        <p:txBody>
          <a:bodyPr wrap="square">
            <a:spAutoFit/>
          </a:bodyPr>
          <a:lstStyle/>
          <a:p>
            <a:pPr>
              <a:defRPr sz="1300" b="1">
                <a:solidFill>
                  <a:srgbClr val="10B981"/>
                </a:solidFill>
                <a:latin typeface="Trebuchet MS"/>
              </a:defRPr>
            </a:pPr>
            <a:r>
              <a:t>3. Plumber Assigned</a:t>
            </a:r>
          </a:p>
          <a:p>
            <a:pPr>
              <a:spcBef>
                <a:spcPts val="1000"/>
              </a:spcBef>
              <a:defRPr sz="1050">
                <a:solidFill>
                  <a:srgbClr val="94A3B8"/>
                </a:solidFill>
                <a:latin typeface="Calibri"/>
              </a:defRPr>
            </a:pPr>
            <a:r>
              <a:t>Service ticket dispatched to verified plumber with parts list and customer address.</a:t>
            </a:r>
          </a:p>
        </p:txBody>
      </p:sp>
      <p:sp>
        <p:nvSpPr>
          <p:cNvPr id="15" name="Rounded Rectangle 14"/>
          <p:cNvSpPr/>
          <p:nvPr/>
        </p:nvSpPr>
        <p:spPr>
          <a:xfrm>
            <a:off x="7301484" y="1645920"/>
            <a:ext cx="1965960" cy="448056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01484" y="1645920"/>
            <a:ext cx="196596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11212" y="1828800"/>
            <a:ext cx="1746504" cy="4114800"/>
          </a:xfrm>
          <a:prstGeom prst="rect">
            <a:avLst/>
          </a:prstGeom>
          <a:noFill/>
        </p:spPr>
        <p:txBody>
          <a:bodyPr wrap="square">
            <a:spAutoFit/>
          </a:bodyPr>
          <a:lstStyle/>
          <a:p>
            <a:pPr>
              <a:defRPr sz="1300" b="1">
                <a:solidFill>
                  <a:srgbClr val="F59E0B"/>
                </a:solidFill>
                <a:latin typeface="Trebuchet MS"/>
              </a:defRPr>
            </a:pPr>
            <a:r>
              <a:t>4. Technical Execution</a:t>
            </a:r>
          </a:p>
          <a:p>
            <a:pPr>
              <a:spcBef>
                <a:spcPts val="1000"/>
              </a:spcBef>
              <a:defRPr sz="1050">
                <a:solidFill>
                  <a:srgbClr val="94A3B8"/>
                </a:solidFill>
                <a:latin typeface="Calibri"/>
              </a:defRPr>
            </a:pPr>
            <a:r>
              <a:t>Plumber reviews schematics on mobile app, arrives on-site, and completes work.</a:t>
            </a:r>
          </a:p>
        </p:txBody>
      </p:sp>
      <p:sp>
        <p:nvSpPr>
          <p:cNvPr id="18" name="Rounded Rectangle 17"/>
          <p:cNvSpPr/>
          <p:nvPr/>
        </p:nvSpPr>
        <p:spPr>
          <a:xfrm>
            <a:off x="9491472" y="1645920"/>
            <a:ext cx="1965960" cy="4480560"/>
          </a:xfrm>
          <a:prstGeom prst="roundRect">
            <a:avLst/>
          </a:prstGeom>
          <a:solidFill>
            <a:srgbClr val="1E293B"/>
          </a:solidFill>
          <a:ln w="12700">
            <a:solidFill>
              <a:srgbClr val="636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91472" y="1645920"/>
            <a:ext cx="1965960" cy="73152"/>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0" y="1828800"/>
            <a:ext cx="1746504" cy="4114800"/>
          </a:xfrm>
          <a:prstGeom prst="rect">
            <a:avLst/>
          </a:prstGeom>
          <a:noFill/>
        </p:spPr>
        <p:txBody>
          <a:bodyPr wrap="square">
            <a:spAutoFit/>
          </a:bodyPr>
          <a:lstStyle/>
          <a:p>
            <a:pPr>
              <a:defRPr sz="1300" b="1">
                <a:solidFill>
                  <a:srgbClr val="6366F1"/>
                </a:solidFill>
                <a:latin typeface="Trebuchet MS"/>
              </a:defRPr>
            </a:pPr>
            <a:r>
              <a:t>5. Rewards &amp; Reconcile</a:t>
            </a:r>
          </a:p>
          <a:p>
            <a:pPr>
              <a:spcBef>
                <a:spcPts val="1000"/>
              </a:spcBef>
              <a:defRPr sz="1050">
                <a:solidFill>
                  <a:srgbClr val="94A3B8"/>
                </a:solidFill>
                <a:latin typeface="Calibri"/>
              </a:defRPr>
            </a:pPr>
            <a:r>
              <a:t>Customer confirms completion; plumber earns reward points; order archived in Zoho.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91840" cy="292608"/>
          </a:xfrm>
          <a:prstGeom prst="roundRect">
            <a:avLst/>
          </a:prstGeom>
          <a:solidFill>
            <a:srgbClr val="E0F2FE"/>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50" b="1">
                <a:solidFill>
                  <a:srgbClr val="0284C7"/>
                </a:solidFill>
                <a:latin typeface="Trebuchet MS"/>
              </a:defRPr>
            </a:pPr>
            <a:r>
              <a:t>LIVE DEMONSTRATION</a:t>
            </a:r>
          </a:p>
        </p:txBody>
      </p:sp>
      <p:sp>
        <p:nvSpPr>
          <p:cNvPr id="4" name="TextBox 3"/>
          <p:cNvSpPr txBox="1"/>
          <p:nvPr/>
        </p:nvSpPr>
        <p:spPr>
          <a:xfrm>
            <a:off x="685800" y="749808"/>
            <a:ext cx="10789920" cy="640080"/>
          </a:xfrm>
          <a:prstGeom prst="rect">
            <a:avLst/>
          </a:prstGeom>
          <a:noFill/>
        </p:spPr>
        <p:txBody>
          <a:bodyPr wrap="square" tIns="0" bIns="0" lIns="0" rIns="0">
            <a:spAutoFit/>
          </a:bodyPr>
          <a:lstStyle/>
          <a:p>
            <a:pPr>
              <a:defRPr sz="2200" b="1">
                <a:solidFill>
                  <a:srgbClr val="0F172A"/>
                </a:solidFill>
                <a:latin typeface="Trebuchet MS"/>
              </a:defRPr>
            </a:pPr>
            <a:r>
              <a:t>Live Verification Matrix &amp; Demo Accounts (OTP: 123456)</a:t>
            </a:r>
          </a:p>
        </p:txBody>
      </p:sp>
      <p:sp>
        <p:nvSpPr>
          <p:cNvPr id="5" name="Rectangle 4"/>
          <p:cNvSpPr/>
          <p:nvPr/>
        </p:nvSpPr>
        <p:spPr>
          <a:xfrm>
            <a:off x="731520" y="1444752"/>
            <a:ext cx="10728655" cy="27432"/>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10728655" cy="69494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73152" cy="69494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719072"/>
            <a:ext cx="10424160" cy="548640"/>
          </a:xfrm>
          <a:prstGeom prst="rect">
            <a:avLst/>
          </a:prstGeom>
          <a:noFill/>
        </p:spPr>
        <p:txBody>
          <a:bodyPr wrap="square">
            <a:spAutoFit/>
          </a:bodyPr>
          <a:lstStyle/>
          <a:p>
            <a:pPr>
              <a:defRPr sz="1100" b="1">
                <a:solidFill>
                  <a:srgbClr val="0284C7"/>
                </a:solidFill>
                <a:latin typeface="Trebuchet MS"/>
              </a:defRPr>
            </a:pPr>
            <a:r>
              <a:t>CUSTOMER  |  Rahul Sharma  (9876543210)</a:t>
            </a:r>
          </a:p>
          <a:p>
            <a:pPr>
              <a:spcBef>
                <a:spcPts val="200"/>
              </a:spcBef>
              <a:defRPr sz="1000">
                <a:solidFill>
                  <a:srgbClr val="0F172A"/>
                </a:solidFill>
                <a:latin typeface="Calibri"/>
              </a:defRPr>
            </a:pPr>
            <a:r>
              <a:t>Key Behavior: Retail prices only, stock quantity hidden, direct payment, order tracking.</a:t>
            </a:r>
          </a:p>
        </p:txBody>
      </p:sp>
      <p:sp>
        <p:nvSpPr>
          <p:cNvPr id="9" name="Rounded Rectangle 8"/>
          <p:cNvSpPr/>
          <p:nvPr/>
        </p:nvSpPr>
        <p:spPr>
          <a:xfrm>
            <a:off x="731520" y="2423160"/>
            <a:ext cx="10728655" cy="69494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423160"/>
            <a:ext cx="73152" cy="69494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496312"/>
            <a:ext cx="10424160" cy="548640"/>
          </a:xfrm>
          <a:prstGeom prst="rect">
            <a:avLst/>
          </a:prstGeom>
          <a:noFill/>
        </p:spPr>
        <p:txBody>
          <a:bodyPr wrap="square">
            <a:spAutoFit/>
          </a:bodyPr>
          <a:lstStyle/>
          <a:p>
            <a:pPr>
              <a:defRPr sz="1100" b="1">
                <a:solidFill>
                  <a:srgbClr val="F59E0B"/>
                </a:solidFill>
                <a:latin typeface="Trebuchet MS"/>
              </a:defRPr>
            </a:pPr>
            <a:r>
              <a:t>DEALER (90D APPROVED)  |  Sri Venkateswara Dist.  (9000011111)</a:t>
            </a:r>
          </a:p>
          <a:p>
            <a:pPr>
              <a:spcBef>
                <a:spcPts val="200"/>
              </a:spcBef>
              <a:defRPr sz="1000">
                <a:solidFill>
                  <a:srgbClr val="0F172A"/>
                </a:solidFill>
                <a:latin typeface="Calibri"/>
              </a:defRPr>
            </a:pPr>
            <a:r>
              <a:t>Key Behavior: Zoho Verified, sees exact stock &amp; MOQ. Upfront + 30D + 90D Credit unlocked.</a:t>
            </a:r>
          </a:p>
        </p:txBody>
      </p:sp>
      <p:sp>
        <p:nvSpPr>
          <p:cNvPr id="12" name="Rounded Rectangle 11"/>
          <p:cNvSpPr/>
          <p:nvPr/>
        </p:nvSpPr>
        <p:spPr>
          <a:xfrm>
            <a:off x="731520" y="3200400"/>
            <a:ext cx="10728655" cy="69494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200400"/>
            <a:ext cx="73152" cy="69494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273552"/>
            <a:ext cx="10424160" cy="548640"/>
          </a:xfrm>
          <a:prstGeom prst="rect">
            <a:avLst/>
          </a:prstGeom>
          <a:noFill/>
        </p:spPr>
        <p:txBody>
          <a:bodyPr wrap="square">
            <a:spAutoFit/>
          </a:bodyPr>
          <a:lstStyle/>
          <a:p>
            <a:pPr>
              <a:defRPr sz="1100" b="1">
                <a:solidFill>
                  <a:srgbClr val="F59E0B"/>
                </a:solidFill>
                <a:latin typeface="Trebuchet MS"/>
              </a:defRPr>
            </a:pPr>
            <a:r>
              <a:t>DEALER (30D ONLY)  |  Metro Pipe Syndicate  (9000022222)</a:t>
            </a:r>
          </a:p>
          <a:p>
            <a:pPr>
              <a:spcBef>
                <a:spcPts val="200"/>
              </a:spcBef>
              <a:defRPr sz="1000">
                <a:solidFill>
                  <a:srgbClr val="0F172A"/>
                </a:solidFill>
                <a:latin typeface="Calibri"/>
              </a:defRPr>
            </a:pPr>
            <a:r>
              <a:t>Key Behavior: Zoho Verified, sees exact stock &amp; MOQ. Upfront + 30D Credit (90D locked).</a:t>
            </a:r>
          </a:p>
        </p:txBody>
      </p:sp>
      <p:sp>
        <p:nvSpPr>
          <p:cNvPr id="15" name="Rounded Rectangle 14"/>
          <p:cNvSpPr/>
          <p:nvPr/>
        </p:nvSpPr>
        <p:spPr>
          <a:xfrm>
            <a:off x="731520" y="3977639"/>
            <a:ext cx="10728655" cy="69494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3977639"/>
            <a:ext cx="73152" cy="69494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050791"/>
            <a:ext cx="10424160" cy="548640"/>
          </a:xfrm>
          <a:prstGeom prst="rect">
            <a:avLst/>
          </a:prstGeom>
          <a:noFill/>
        </p:spPr>
        <p:txBody>
          <a:bodyPr wrap="square">
            <a:spAutoFit/>
          </a:bodyPr>
          <a:lstStyle/>
          <a:p>
            <a:pPr>
              <a:defRPr sz="1100" b="1">
                <a:solidFill>
                  <a:srgbClr val="F59E0B"/>
                </a:solidFill>
                <a:latin typeface="Trebuchet MS"/>
              </a:defRPr>
            </a:pPr>
            <a:r>
              <a:t>DEALER (UNVERIFIED)  |  Coastal Builders Mart  (9000033333)</a:t>
            </a:r>
          </a:p>
          <a:p>
            <a:pPr>
              <a:spcBef>
                <a:spcPts val="200"/>
              </a:spcBef>
              <a:defRPr sz="1000">
                <a:solidFill>
                  <a:srgbClr val="0F172A"/>
                </a:solidFill>
                <a:latin typeface="Calibri"/>
              </a:defRPr>
            </a:pPr>
            <a:r>
              <a:t>Key Behavior: BLOCKED at OTP login until verified by Admin. Appeal modal enabled.</a:t>
            </a:r>
          </a:p>
        </p:txBody>
      </p:sp>
      <p:sp>
        <p:nvSpPr>
          <p:cNvPr id="18" name="Rounded Rectangle 17"/>
          <p:cNvSpPr/>
          <p:nvPr/>
        </p:nvSpPr>
        <p:spPr>
          <a:xfrm>
            <a:off x="731520" y="4754880"/>
            <a:ext cx="10728655" cy="69494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4754880"/>
            <a:ext cx="73152" cy="69494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828032"/>
            <a:ext cx="10424160" cy="548640"/>
          </a:xfrm>
          <a:prstGeom prst="rect">
            <a:avLst/>
          </a:prstGeom>
          <a:noFill/>
        </p:spPr>
        <p:txBody>
          <a:bodyPr wrap="square">
            <a:spAutoFit/>
          </a:bodyPr>
          <a:lstStyle/>
          <a:p>
            <a:pPr>
              <a:defRPr sz="1100" b="1">
                <a:solidFill>
                  <a:srgbClr val="10B981"/>
                </a:solidFill>
                <a:latin typeface="Trebuchet MS"/>
              </a:defRPr>
            </a:pPr>
            <a:r>
              <a:t>PLUMBER (FIELD)  |  Ramesh Babu  (9111122222)</a:t>
            </a:r>
          </a:p>
          <a:p>
            <a:pPr>
              <a:spcBef>
                <a:spcPts val="200"/>
              </a:spcBef>
              <a:defRPr sz="1000">
                <a:solidFill>
                  <a:srgbClr val="0F172A"/>
                </a:solidFill>
                <a:latin typeface="Calibri"/>
              </a:defRPr>
            </a:pPr>
            <a:r>
              <a:t>Key Behavior: KYC Verified, assigned installation jobs, technical specs, reward ledger.</a:t>
            </a:r>
          </a:p>
        </p:txBody>
      </p:sp>
      <p:sp>
        <p:nvSpPr>
          <p:cNvPr id="21" name="Rounded Rectangle 20"/>
          <p:cNvSpPr/>
          <p:nvPr/>
        </p:nvSpPr>
        <p:spPr>
          <a:xfrm>
            <a:off x="731520" y="5532120"/>
            <a:ext cx="10728655" cy="69494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5532120"/>
            <a:ext cx="73152" cy="694944"/>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5605272"/>
            <a:ext cx="10424160" cy="548640"/>
          </a:xfrm>
          <a:prstGeom prst="rect">
            <a:avLst/>
          </a:prstGeom>
          <a:noFill/>
        </p:spPr>
        <p:txBody>
          <a:bodyPr wrap="square">
            <a:spAutoFit/>
          </a:bodyPr>
          <a:lstStyle/>
          <a:p>
            <a:pPr>
              <a:defRPr sz="1100" b="1">
                <a:solidFill>
                  <a:srgbClr val="6366F1"/>
                </a:solidFill>
                <a:latin typeface="Trebuchet MS"/>
              </a:defRPr>
            </a:pPr>
            <a:r>
              <a:t>ADMIN PORTAL  |  System Administrator  (admin@plumbmart.com)</a:t>
            </a:r>
          </a:p>
          <a:p>
            <a:pPr>
              <a:spcBef>
                <a:spcPts val="200"/>
              </a:spcBef>
              <a:defRPr sz="1000">
                <a:solidFill>
                  <a:srgbClr val="0F172A"/>
                </a:solidFill>
                <a:latin typeface="Calibri"/>
              </a:defRPr>
            </a:pPr>
            <a:r>
              <a:t>Key Behavior: Full governance over Zoho sync, credit approvals, plumber KYC, and orders.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91840" cy="292608"/>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wrap="square" tIns="18288" bIns="18288"/>
          <a:lstStyle/>
          <a:p>
            <a:pPr algn="ctr">
              <a:defRPr sz="950" b="1">
                <a:solidFill>
                  <a:srgbClr val="06B6D4"/>
                </a:solidFill>
                <a:latin typeface="Trebuchet MS"/>
              </a:defRPr>
            </a:pPr>
            <a:r>
              <a:t>SUMMARY &amp; ROADMAP</a:t>
            </a:r>
          </a:p>
        </p:txBody>
      </p:sp>
      <p:sp>
        <p:nvSpPr>
          <p:cNvPr id="4" name="TextBox 3"/>
          <p:cNvSpPr txBox="1"/>
          <p:nvPr/>
        </p:nvSpPr>
        <p:spPr>
          <a:xfrm>
            <a:off x="685800" y="749808"/>
            <a:ext cx="10789920" cy="640080"/>
          </a:xfrm>
          <a:prstGeom prst="rect">
            <a:avLst/>
          </a:prstGeom>
          <a:noFill/>
        </p:spPr>
        <p:txBody>
          <a:bodyPr wrap="square" tIns="0" bIns="0" lIns="0" rIns="0">
            <a:spAutoFit/>
          </a:bodyPr>
          <a:lstStyle/>
          <a:p>
            <a:pPr>
              <a:defRPr sz="2200" b="1">
                <a:solidFill>
                  <a:srgbClr val="FFFFFF"/>
                </a:solidFill>
                <a:latin typeface="Trebuchet MS"/>
              </a:defRPr>
            </a:pPr>
            <a:r>
              <a:t>Conclusion &amp; Technology Roadmap</a:t>
            </a:r>
          </a:p>
        </p:txBody>
      </p:sp>
      <p:sp>
        <p:nvSpPr>
          <p:cNvPr id="5" name="Rectangle 4"/>
          <p:cNvSpPr/>
          <p:nvPr/>
        </p:nvSpPr>
        <p:spPr>
          <a:xfrm>
            <a:off x="731520" y="1444752"/>
            <a:ext cx="10728655" cy="27432"/>
          </a:xfrm>
          <a:prstGeom prst="rect">
            <a:avLst/>
          </a:prstGeom>
          <a:solidFill>
            <a:srgbClr val="3341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1645920"/>
            <a:ext cx="5212080" cy="4572000"/>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4663440" cy="4114800"/>
          </a:xfrm>
          <a:prstGeom prst="rect">
            <a:avLst/>
          </a:prstGeom>
          <a:noFill/>
        </p:spPr>
        <p:txBody>
          <a:bodyPr wrap="square">
            <a:spAutoFit/>
          </a:bodyPr>
          <a:lstStyle/>
          <a:p>
            <a:pPr>
              <a:defRPr sz="1600" b="1">
                <a:solidFill>
                  <a:srgbClr val="06B6D4"/>
                </a:solidFill>
                <a:latin typeface="Trebuchet MS"/>
              </a:defRPr>
            </a:pPr>
            <a:r>
              <a:t>Key Task Achievements</a:t>
            </a:r>
          </a:p>
          <a:p>
            <a:pPr>
              <a:spcBef>
                <a:spcPts val="800"/>
              </a:spcBef>
              <a:defRPr sz="1100" b="1">
                <a:solidFill>
                  <a:srgbClr val="FFFFFF"/>
                </a:solidFill>
                <a:latin typeface="Trebuchet MS"/>
              </a:defRPr>
            </a:pPr>
            <a:r>
              <a:t>✓ Complete Interview Task Alignment</a:t>
            </a:r>
          </a:p>
          <a:p>
            <a:pPr>
              <a:spcBef>
                <a:spcPts val="200"/>
              </a:spcBef>
              <a:defRPr sz="1000">
                <a:solidFill>
                  <a:srgbClr val="94A3B8"/>
                </a:solidFill>
                <a:latin typeface="Calibri"/>
              </a:defRPr>
            </a:pPr>
            <a:r>
              <a:t>100% of functional requirements delivered: passwordless OTP, Zoho CRM verification, stock quantity obfuscation, and 30/90-day credit.</a:t>
            </a:r>
          </a:p>
          <a:p>
            <a:pPr>
              <a:spcBef>
                <a:spcPts val="800"/>
              </a:spcBef>
              <a:defRPr sz="1100" b="1">
                <a:solidFill>
                  <a:srgbClr val="FFFFFF"/>
                </a:solidFill>
                <a:latin typeface="Trebuchet MS"/>
              </a:defRPr>
            </a:pPr>
            <a:r>
              <a:t>✓ Enterprise Multi-Role Separation</a:t>
            </a:r>
          </a:p>
          <a:p>
            <a:pPr>
              <a:spcBef>
                <a:spcPts val="200"/>
              </a:spcBef>
              <a:defRPr sz="1000">
                <a:solidFill>
                  <a:srgbClr val="94A3B8"/>
                </a:solidFill>
                <a:latin typeface="Calibri"/>
              </a:defRPr>
            </a:pPr>
            <a:r>
              <a:t>Clean UX separation across 4 distinct dashboards: Customer, Dealer, Plumber, and Admin.</a:t>
            </a:r>
          </a:p>
          <a:p>
            <a:pPr>
              <a:spcBef>
                <a:spcPts val="800"/>
              </a:spcBef>
              <a:defRPr sz="1100" b="1">
                <a:solidFill>
                  <a:srgbClr val="FFFFFF"/>
                </a:solidFill>
                <a:latin typeface="Trebuchet MS"/>
              </a:defRPr>
            </a:pPr>
            <a:r>
              <a:t>✓ High-Resilience Dual-Tier Architecture</a:t>
            </a:r>
          </a:p>
          <a:p>
            <a:pPr>
              <a:spcBef>
                <a:spcPts val="200"/>
              </a:spcBef>
              <a:defRPr sz="1000">
                <a:solidFill>
                  <a:srgbClr val="94A3B8"/>
                </a:solidFill>
                <a:latin typeface="Calibri"/>
              </a:defRPr>
            </a:pPr>
            <a:r>
              <a:t>Supabase PostgreSQL pooling paired with atomic JSON local fallback ensuring zero downtime.</a:t>
            </a:r>
          </a:p>
          <a:p>
            <a:pPr>
              <a:spcBef>
                <a:spcPts val="800"/>
              </a:spcBef>
              <a:defRPr sz="1100" b="1">
                <a:solidFill>
                  <a:srgbClr val="FFFFFF"/>
                </a:solidFill>
                <a:latin typeface="Trebuchet MS"/>
              </a:defRPr>
            </a:pPr>
            <a:r>
              <a:t>✓ Automated Notification Pipeline</a:t>
            </a:r>
          </a:p>
          <a:p>
            <a:pPr>
              <a:spcBef>
                <a:spcPts val="200"/>
              </a:spcBef>
              <a:defRPr sz="1000">
                <a:solidFill>
                  <a:srgbClr val="94A3B8"/>
                </a:solidFill>
                <a:latin typeface="Calibri"/>
              </a:defRPr>
            </a:pPr>
            <a:r>
              <a:t>Nodemailer transactional email receipts and real-time in-app notification toasts.</a:t>
            </a:r>
          </a:p>
        </p:txBody>
      </p:sp>
      <p:sp>
        <p:nvSpPr>
          <p:cNvPr id="8" name="Rounded Rectangle 7"/>
          <p:cNvSpPr/>
          <p:nvPr/>
        </p:nvSpPr>
        <p:spPr>
          <a:xfrm>
            <a:off x="6217920" y="1645920"/>
            <a:ext cx="5212080" cy="4572000"/>
          </a:xfrm>
          <a:prstGeom prst="roundRect">
            <a:avLst/>
          </a:prstGeom>
          <a:solidFill>
            <a:srgbClr val="1E293B"/>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828800"/>
            <a:ext cx="4663440" cy="4114800"/>
          </a:xfrm>
          <a:prstGeom prst="rect">
            <a:avLst/>
          </a:prstGeom>
          <a:noFill/>
        </p:spPr>
        <p:txBody>
          <a:bodyPr wrap="square">
            <a:spAutoFit/>
          </a:bodyPr>
          <a:lstStyle/>
          <a:p>
            <a:pPr>
              <a:defRPr sz="1600" b="1">
                <a:solidFill>
                  <a:srgbClr val="10B981"/>
                </a:solidFill>
                <a:latin typeface="Trebuchet MS"/>
              </a:defRPr>
            </a:pPr>
            <a:r>
              <a:t>Future Technical Roadmap</a:t>
            </a:r>
          </a:p>
          <a:p>
            <a:pPr>
              <a:spcBef>
                <a:spcPts val="800"/>
              </a:spcBef>
              <a:defRPr sz="1100" b="1">
                <a:solidFill>
                  <a:srgbClr val="FFFFFF"/>
                </a:solidFill>
                <a:latin typeface="Trebuchet MS"/>
              </a:defRPr>
            </a:pPr>
            <a:r>
              <a:t>→ Cross-Platform Mobile App (React Native)</a:t>
            </a:r>
          </a:p>
          <a:p>
            <a:pPr>
              <a:spcBef>
                <a:spcPts val="200"/>
              </a:spcBef>
              <a:defRPr sz="1000">
                <a:solidFill>
                  <a:srgbClr val="94A3B8"/>
                </a:solidFill>
                <a:latin typeface="Calibri"/>
              </a:defRPr>
            </a:pPr>
            <a:r>
              <a:t>Compile current React frontend into native iOS &amp; Android applications with biometric authentication.</a:t>
            </a:r>
          </a:p>
          <a:p>
            <a:pPr>
              <a:spcBef>
                <a:spcPts val="800"/>
              </a:spcBef>
              <a:defRPr sz="1100" b="1">
                <a:solidFill>
                  <a:srgbClr val="FFFFFF"/>
                </a:solidFill>
                <a:latin typeface="Trebuchet MS"/>
              </a:defRPr>
            </a:pPr>
            <a:r>
              <a:t>→ Live GPS Plumber Dispatch &amp; Tracking</a:t>
            </a:r>
          </a:p>
          <a:p>
            <a:pPr>
              <a:spcBef>
                <a:spcPts val="200"/>
              </a:spcBef>
              <a:defRPr sz="1000">
                <a:solidFill>
                  <a:srgbClr val="94A3B8"/>
                </a:solidFill>
                <a:latin typeface="Calibri"/>
              </a:defRPr>
            </a:pPr>
            <a:r>
              <a:t>Real-time Google Maps telemetry for technician arrival ETA and route optimization.</a:t>
            </a:r>
          </a:p>
          <a:p>
            <a:pPr>
              <a:spcBef>
                <a:spcPts val="800"/>
              </a:spcBef>
              <a:defRPr sz="1100" b="1">
                <a:solidFill>
                  <a:srgbClr val="FFFFFF"/>
                </a:solidFill>
                <a:latin typeface="Trebuchet MS"/>
              </a:defRPr>
            </a:pPr>
            <a:r>
              <a:t>→ Payment Gateway Integration (Razorpay/UPI)</a:t>
            </a:r>
          </a:p>
          <a:p>
            <a:pPr>
              <a:spcBef>
                <a:spcPts val="200"/>
              </a:spcBef>
              <a:defRPr sz="1000">
                <a:solidFill>
                  <a:srgbClr val="94A3B8"/>
                </a:solidFill>
                <a:latin typeface="Calibri"/>
              </a:defRPr>
            </a:pPr>
            <a:r>
              <a:t>Instant automated payment webhook verification and recurring credit line autopayments.</a:t>
            </a:r>
          </a:p>
          <a:p>
            <a:pPr>
              <a:spcBef>
                <a:spcPts val="800"/>
              </a:spcBef>
              <a:defRPr sz="1100" b="1">
                <a:solidFill>
                  <a:srgbClr val="FFFFFF"/>
                </a:solidFill>
                <a:latin typeface="Trebuchet MS"/>
              </a:defRPr>
            </a:pPr>
            <a:r>
              <a:t>→ AI Predictive Plumbing Diagnostics</a:t>
            </a:r>
          </a:p>
          <a:p>
            <a:pPr>
              <a:spcBef>
                <a:spcPts val="200"/>
              </a:spcBef>
              <a:defRPr sz="1000">
                <a:solidFill>
                  <a:srgbClr val="94A3B8"/>
                </a:solidFill>
                <a:latin typeface="Calibri"/>
              </a:defRPr>
            </a:pPr>
            <a:r>
              <a:t>Computer vision model allowing customers to photograph leaking fittings for automated SKU recommendations.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